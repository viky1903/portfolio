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94" r:id="rId27"/>
    <p:sldId id="295" r:id="rId28"/>
    <p:sldId id="296" r:id="rId29"/>
    <p:sldId id="281" r:id="rId30"/>
    <p:sldId id="282" r:id="rId31"/>
    <p:sldId id="283" r:id="rId32"/>
    <p:sldId id="293" r:id="rId33"/>
    <p:sldId id="284" r:id="rId34"/>
    <p:sldId id="285" r:id="rId35"/>
    <p:sldId id="286" r:id="rId36"/>
    <p:sldId id="287" r:id="rId37"/>
    <p:sldId id="288" r:id="rId38"/>
    <p:sldId id="289" r:id="rId39"/>
    <p:sldId id="290" r:id="rId40"/>
    <p:sldId id="291" r:id="rId41"/>
    <p:sldId id="292"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80131" autoAdjust="0"/>
  </p:normalViewPr>
  <p:slideViewPr>
    <p:cSldViewPr snapToGrid="0" snapToObjects="1">
      <p:cViewPr varScale="1">
        <p:scale>
          <a:sx n="82" d="100"/>
          <a:sy n="82" d="100"/>
        </p:scale>
        <p:origin x="69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1427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the formal definition boxed at the top: Google Ads is a paid advertising platform, not a free traffic source — advertisers must bid for placement. Give the history: it launched in October 2000 under the name Google AdWords, and was rebranded to 'Google Ads' in July 2018 to better reflect the expanded range of ad formats beyond just search (Display, Shopping, Video, App). Clarify the payment model: most commonly, advertisers pay per click (CPC) — meaning they are NOT charged just for the ad being displayed (an impression), only when a user takes the desired action. Explain the three-box visual: Search ads are the most common and recognizable format, they physically appear on the Search Engine Results Page (SERP) — often above the organic (unpaid) listings — and are always marked with a 'Sponsored' label so users can distinguish paid from organic results. Ask students: has anyone noticed the 'Sponsored' label while searching on Google? This helps ground the concept in something they've already seen.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six scenarios where Google Ads is the right tool. 1) Starting a new business — organic traffic (SEO) takes months to build; Google Ads gets a brand in front of customers immediately. 2) Increasing lead generation — target users actively searching for a service and funnel them to a lead form. 3) Boosting sales/revenue — Search, Shopping, and Video ads can directly drive e-commerce transactions. 4) Promoting time-sensitive content — flash sales, events, or seasonal promotions need immediate visibility that only paid ads can provide fast. 5) Reaching new audiences — Google's detailed targeting (demographics, interests, geography) helps find niche or previously untapped customer segments. 6) Winning back visitors — remarketing campaigns re-engage users who visited the site but didn't convert, often the highest-ROI campaign type. Use the bakery example at the bottom to make this concrete. Ask students to think of a business idea and identify which of these six goals applies to 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three-step auction process shown in the diagram: a user types a search query (step 1); Google instantly runs an auction among all advertisers who bid on that keyword (step 2); Ad Rank determines which ads appear and in what order (step 3) — this all happens in a fraction of a second. Introduce the two pricing models: CPC is the default for most campaigns — advertisers pay only when a user actually clicks. CPM is used mainly for brand awareness campaigns where the goal is visibility, not clicks. Clarify the concept of 'maximum bid' — this is a common student misconception; the bid is a ceiling, not a fixed price. Use the concrete example: bidding a maximum of $3.00 doesn't mean paying $3.00 every time — actual cost depends on what's needed to beat the competitor below you, which might land at $1.80. This is a good moment to explain that a well-optimized ad (better Quality Score) can win a higher position for a lower cost than a competitor with a higher bid but poor relevance.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slide announcing the terminology section. Tell students that the next set of slides will each cover exactly one Google Ads term in depth — definition, concrete example, and an accompanying visual before moving to the next. There are 11 terms covered in this section.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Broad match is Google's default keyword setting since no special syntax is used — just type the keyword plainly like 'running shoes'. Explain the core mechanic: broad match doesn't require the searched words to match your keyword at all — Google uses the search's overall meaning and intent, so 'running shoes' could show for searches like 'athletic sneakers' or 'jogging footwear', as shown in the mock SERP result. This is the widest-reaching match type but also the riskiest — it can trigger your ad for tangentially related or even irrelevant searches, wasting budget if not monitored carefully. Recommend pairing broad match with a Smart Bidding strategy since Google's machine learning uses additional signals to keep matches relevant. Tell students: broad match is powerful for discovering new relevant search terms, but it requires an active negative keyword strategy to prevent wasted spend.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Phrase match uses quotation marks around the keyword, e.g. "running shoes". The key rule: the core meaning and word order of the phrase must be preserved in the user's search, but extra words can appear before or after it. So 'buy running shoes online' and 'running shoes near me' both trigger the ad because the meaning of 'running shoes' stays intact. Contrast with what it will NOT match: if the words are rearranged in a way that changes meaning, it won't trigger. Most practitioners consider phrase match the best balance between broad match's wide reach and exact match's tight control — many businesses run the majority of their keywords as phrase match. Quick check: ask students whether 'red running shoes' would match the phrase "running shoes" (yes, because the core phrase is still intact with an extra word before it).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Exact match uses square brackets, e.g. [running shoes]. Despite the name 'exact', Google still allows very close variants — same meaning, singular/plural forms, common misspellings, or reordered words that don't change intent. This gives advertisers the highest level of control and typically the highest relevance and Quality Score, but delivers the smallest search volume of the three match types. Recommend exact match for high-value, high-intent, or branded keywords where precision matters more than volume. Summarize the three match types together: Broad = widest reach/least control, Phrase = balanced, Exact = narrowest reach/most control.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Negative keywords prevent your ad from showing, protecting budget. Example: bidding on 'running shoes' but adding 'free' as negative stops the ad showing for 'free running shoes' searches. Explain the two-list strategy: a catch-all negative list at account level catches consistently irrelevant terms; a branded negative list applied to non-brand campaigns prevents brand vs non-brand cannibalization. Stress this isn't a one-time task — review the Search Terms Report weekly. Ask students why showing ads for 'free running shoes' wastes a premium brand's budget.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Quality Score rewards relevant ads over simply the highest bidder. Explain the three components: Expected CTR (likelihood of a click vs competitors), Ad Relevance (does the ad match search intent), Landing Page Experience (relevance, speed, navigability). Each rated Above Average/Average/Below Average. A higher Quality Score can lower CPC and improve position because Ad Rank factors quality, not just bid — a relevant $2 bid can outrank an irrelevant $5 bid. Found in the Status column of the Keywords tab in Google Ads.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 Rank is the master formula deciding an ad's fate. Five factors: bid amount, Quality Score, Ad Rank thresholds, auction competitiveness, and search context. Reiterate: a well-optimized ad with a lower bid can outrank a poorly optimized ad with a higher bid. Of these five factors, advertisers directly control only bid amount and Quality Score — the other three are outside their control, so optimization should focus on what's controllable.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CTR = Clicks ÷ Impressions. Example: 50 clicks / 1,000 impressions = 5% CTR. Search ads generally see higher CTRs than Display ads because search represents active intent. Since Expected CTR is a Quality Score component, a consistently high CTR can improve Quality Score and lower CPC. A low CTR signals ad copy or targeting misalignment with what users searching that keyword want to see.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Conversion Rate = Conversions ÷ Clicks. Example: 10 purchases from 200 clicks = 5%. Unlike CTR (ad-to-search relevance), conversion rate measures the landing page/website experience. Diagnostic framework: high CTR + low conversion rate usually means the ad is fine but the landing page needs work. Ties back to Quality Score's Landing Page Experience component.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 Assets (formerly 'extensions') attach extra clickable content to search ads. Mock SERP shows Sitelinks - the 4 underlined blue links letting users jump to specific pages. Other asset types: Call, Location, Callout, Price, App, Lead Form. Important: these don't cost extra - a click on a sitelink is charged the same CPC as the main headline. More assets mean more SERP real estate, pushing down competitors.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impression is counted every time your ad is rendered, whether or not clicked. If the same user sees your ad twice, that's two impressions. Impressions matter most for CPM-billed awareness campaigns. Impression Share = % of eligible auctions where your ad appeared. Example: 700/1000 = 70%. Low Impression Share signals either budget too small or low Ad Rank.</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landing page is the final piece of the customer journey. Requirements: relevance (matches ad promise), speed (especially mobile), clear CTA, and it directly affects both Quality Score and Conversion Rate. Use good vs bad comparison boxes to reinforce relevance. Class discussion: ask students about a recent ad they clicked where the landing page did or didn't match expectations.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into the cost and budgeting section. Students now have vocabulary (Quality Score, Ad Rank, CTR) needed to understand Google Ads pricing.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Average Daily Budget is the first cost lever. Google's flexible spending rule: daily spend can reach up to 2x average daily budget on high-traffic days; monthly spend up to 30.4x — but never exceeds the monthly cap, balancing higher and lower spend days. Advise researching industry average CPC before setting budget; too small a budget relative to competitive CPCs severely limits Smart Bidding's ability to learn.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ties the two cost drivers together. Total advertising cost is shaped by Average Daily Budget (fully controllable) combined with Ad Rank competitiveness (partly controllable). Advertisers directly control bid amount and ad/keyword/landing page quality; they do NOT control competitor bids, auction volume, or individual search context. Strategy should focus on the controllable side.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into campaign types. Each major Google Ads campaign format gets its own slide with a visual mockup of how the ad looks to a user.</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Search campaigns are the classic Google Ads format — plain text ads on the search results page. Explain Responsive Search Ads: up to 15 headlines and 4 descriptions, Google's ML tests and serves the best combinations to each user. Best suited for high-intent users actively searching for a product/service.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Shopping campaigns are built for e-commerce, pulling directly from a Google Merchant Center feed — no traditional ad copy needed; image, title, price, and store name are auto-formatted. Appears on Shopping tab, Search, Google Images, partner sites. Best for businesses with a structured product catalog.</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Display campaigns place image-based banner ads across the Google Display Network (millions of partner sites/apps) plus YouTube. Effective for brand awareness and remarketing to past visitors. Unlike Search, users aren't actively searching when they see a Display ad — it's passive placement.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Video campaigns run on YouTube and video partners in 5 formats: skippable in-stream, non-skippable (max 15 sec), bumper (6 sec, </a:t>
            </a:r>
            <a:r>
              <a:rPr dirty="0" err="1"/>
              <a:t>unskippable</a:t>
            </a:r>
            <a:r>
              <a:rPr dirty="0"/>
              <a:t>), in-feed, and outstream (mobile/tablet only, outside YouTube). Best for storytelling and reaching younger audiences who spend time on YouTube.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 campaigns are unique: advertiser provides raw creative assets (text, images, video) and Google's AI assembles and places ads across Search, Play Store, YouTube, Gmail, and Display Network automatically — no manual ad-by-ad creation. Designed for mobile app developers driving installs or in-app actions.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Performance Max spans ALL Google ad inventory — Search, Display, YouTube, Gmail, Maps, Discover — in one campaign. Advertiser feeds conversion goals, audience signals, and creative assets; Google's AI decides in real time which channel/format/audience combo performs best. Best for maximum reach with minimal manual channel management, though it sacrifices some manual control.</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into bidding strategies. Tell students to think about which category (conversion, traffic, or visibility) matches their hypothetical campaign's goal.</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CPA is a Smart Bidding strategy: set a target cost-per-acquisition (e.g. $20) and Google automatically adjusts bids across auctions to average that CPA while maximizing conversion volume. Best used once you have enough conversion history — Google recommends at least 30 conversions in the last 30 days for the algorithm to learn effectively.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ROAS optimizes for conversion VALUE rather than volume — set a target return (e.g. 400%, meaning $4 revenue per $1 spent) and Google bids to hit that ratio while maximizing total value. Ideal for e-commerce businesses selling products with varying prices/margins, where not all conversions are equally valuable.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Maximize Clicks is a simple automated strategy: Google spends your full daily budget to get as many clicks as possible, without any CPA or ROAS constraint. Best used for early-stage traffic or awareness campaigns where conversions aren't yet the primary KPI — e.g. driving visits during a website launch.</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Impression Share aims for visibility rather than clicks or conversions — you set a target like '90% Top of Page' and Google bids aggressively enough to hit that visibility goal. This is ideal for brand awareness campaigns, especially defending branded search terms where you want near-total dominance of the results page regardless of click volume.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section transition. Cover conversion tracking (crucial before launch), the account setup process, and universal best practices, closing with a recap.</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Launching campaigns without conversion tracking wastes ad spend. Method 1, linking Google Analytics: go to Tools &amp; Settings &gt; Setup &gt; Linked Accounts, link Conversions/Apps/Customer Match/Lead Export/Store Sales, then import conversions. Method 2, the Google tag: only ONE tracking tag should ever be installed — having both a Google tag and separate Analytics tag can duplicate conversion counts and feed false optimization data. Install via Wix/Shopify or manually; then create Conversion Actions for purchases, signups, demo requests. Choose whichever method suits the business, but never skip this step.</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Six-step account setup: 1) sign in at ads.google.com; 2) enter business name and website URL; 3) optionally link Analytics now or later; 4) choose primary goal (calls, sales/leads, store visits, or YouTube views); 5) two paths — Option A follows Google's guided Smart campaign (less control, good for beginners), Option B (recommended for experienced marketers) clicks 'View more goal types' then 'Leave Campaign Creation' for full manual control; 6) input billing information as the final step. Seasoned marketers often prefer the manual route.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universal best practices. 1) Ad copy mirroring user intent improves CTR, Quality Score, and Ad Rank, keeping CPCs competitive. 2) Ad assets like sitelinks/lead forms/phone numbers increase SERP real estate, crowding out competitors. 3) Landing pages must load fast (especially mobile) with a clear CTA. 4) Build catch-all and branded negative keyword lists at the account level. 5) Review the Search Terms Report weekly — this is ongoing, not one-time.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the entire lesson. Google Ads spans Search, Display, Shopping, Video, App formats. Every ad shown results from a real-time auction priced via CPC/CPM, position decided by Ad Rank. Cost is driven by daily budget and Ad Rank inputs. Bidding strategy should map to campaign goal — conversions, traffic, or visibility. Conversion tracking must be set up before launch. Success comes from ad relevance, matching landing page experience, and ongoing optimization. Consider assigning students an exercise: pick a hypothetical business and identify the best campaign type and bidding strategy for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descr="Padlock on computer motherboard">
            <a:extLst>
              <a:ext uri="{FF2B5EF4-FFF2-40B4-BE49-F238E27FC236}">
                <a16:creationId xmlns:a16="http://schemas.microsoft.com/office/drawing/2014/main" id="{BE39ABF2-7FD3-1B1D-E1C1-AEB577CA35E6}"/>
              </a:ext>
            </a:extLst>
          </p:cNvPr>
          <p:cNvPicPr>
            <a:picLocks noChangeAspect="1"/>
          </p:cNvPicPr>
          <p:nvPr/>
        </p:nvPicPr>
        <p:blipFill>
          <a:blip r:embed="rId3">
            <a:alphaModFix amt="20000"/>
          </a:blip>
          <a:stretch>
            <a:fillRect/>
          </a:stretch>
        </p:blipFill>
        <p:spPr>
          <a:xfrm>
            <a:off x="0" y="0"/>
            <a:ext cx="12192000" cy="6858000"/>
          </a:xfrm>
          <a:prstGeom prst="rect">
            <a:avLst/>
          </a:prstGeom>
        </p:spPr>
      </p:pic>
      <p:sp>
        <p:nvSpPr>
          <p:cNvPr id="2" name="TextBox 1"/>
          <p:cNvSpPr txBox="1"/>
          <p:nvPr/>
        </p:nvSpPr>
        <p:spPr>
          <a:xfrm>
            <a:off x="914400" y="1920240"/>
            <a:ext cx="10332720" cy="1371600"/>
          </a:xfrm>
          <a:custGeom>
            <a:avLst/>
            <a:gdLst>
              <a:gd name="csX0" fmla="*/ 0 w 10332720"/>
              <a:gd name="csY0" fmla="*/ 0 h 1371600"/>
              <a:gd name="csX1" fmla="*/ 895502 w 10332720"/>
              <a:gd name="csY1" fmla="*/ 0 h 1371600"/>
              <a:gd name="csX2" fmla="*/ 1274369 w 10332720"/>
              <a:gd name="csY2" fmla="*/ 0 h 1371600"/>
              <a:gd name="csX3" fmla="*/ 1963217 w 10332720"/>
              <a:gd name="csY3" fmla="*/ 0 h 1371600"/>
              <a:gd name="csX4" fmla="*/ 2652065 w 10332720"/>
              <a:gd name="csY4" fmla="*/ 0 h 1371600"/>
              <a:gd name="csX5" fmla="*/ 3134258 w 10332720"/>
              <a:gd name="csY5" fmla="*/ 0 h 1371600"/>
              <a:gd name="csX6" fmla="*/ 3616452 w 10332720"/>
              <a:gd name="csY6" fmla="*/ 0 h 1371600"/>
              <a:gd name="csX7" fmla="*/ 4408627 w 10332720"/>
              <a:gd name="csY7" fmla="*/ 0 h 1371600"/>
              <a:gd name="csX8" fmla="*/ 4787494 w 10332720"/>
              <a:gd name="csY8" fmla="*/ 0 h 1371600"/>
              <a:gd name="csX9" fmla="*/ 5166360 w 10332720"/>
              <a:gd name="csY9" fmla="*/ 0 h 1371600"/>
              <a:gd name="csX10" fmla="*/ 5648554 w 10332720"/>
              <a:gd name="csY10" fmla="*/ 0 h 1371600"/>
              <a:gd name="csX11" fmla="*/ 6337402 w 10332720"/>
              <a:gd name="csY11" fmla="*/ 0 h 1371600"/>
              <a:gd name="csX12" fmla="*/ 7129577 w 10332720"/>
              <a:gd name="csY12" fmla="*/ 0 h 1371600"/>
              <a:gd name="csX13" fmla="*/ 7818425 w 10332720"/>
              <a:gd name="csY13" fmla="*/ 0 h 1371600"/>
              <a:gd name="csX14" fmla="*/ 8300618 w 10332720"/>
              <a:gd name="csY14" fmla="*/ 0 h 1371600"/>
              <a:gd name="csX15" fmla="*/ 8679485 w 10332720"/>
              <a:gd name="csY15" fmla="*/ 0 h 1371600"/>
              <a:gd name="csX16" fmla="*/ 9574987 w 10332720"/>
              <a:gd name="csY16" fmla="*/ 0 h 1371600"/>
              <a:gd name="csX17" fmla="*/ 10332720 w 10332720"/>
              <a:gd name="csY17" fmla="*/ 0 h 1371600"/>
              <a:gd name="csX18" fmla="*/ 10332720 w 10332720"/>
              <a:gd name="csY18" fmla="*/ 672084 h 1371600"/>
              <a:gd name="csX19" fmla="*/ 10332720 w 10332720"/>
              <a:gd name="csY19" fmla="*/ 1371600 h 1371600"/>
              <a:gd name="csX20" fmla="*/ 9437218 w 10332720"/>
              <a:gd name="csY20" fmla="*/ 1371600 h 1371600"/>
              <a:gd name="csX21" fmla="*/ 9058351 w 10332720"/>
              <a:gd name="csY21" fmla="*/ 1371600 h 1371600"/>
              <a:gd name="csX22" fmla="*/ 8679485 w 10332720"/>
              <a:gd name="csY22" fmla="*/ 1371600 h 1371600"/>
              <a:gd name="csX23" fmla="*/ 7990637 w 10332720"/>
              <a:gd name="csY23" fmla="*/ 1371600 h 1371600"/>
              <a:gd name="csX24" fmla="*/ 7508443 w 10332720"/>
              <a:gd name="csY24" fmla="*/ 1371600 h 1371600"/>
              <a:gd name="csX25" fmla="*/ 6612941 w 10332720"/>
              <a:gd name="csY25" fmla="*/ 1371600 h 1371600"/>
              <a:gd name="csX26" fmla="*/ 5717438 w 10332720"/>
              <a:gd name="csY26" fmla="*/ 1371600 h 1371600"/>
              <a:gd name="csX27" fmla="*/ 4925263 w 10332720"/>
              <a:gd name="csY27" fmla="*/ 1371600 h 1371600"/>
              <a:gd name="csX28" fmla="*/ 4546397 w 10332720"/>
              <a:gd name="csY28" fmla="*/ 1371600 h 1371600"/>
              <a:gd name="csX29" fmla="*/ 3857549 w 10332720"/>
              <a:gd name="csY29" fmla="*/ 1371600 h 1371600"/>
              <a:gd name="csX30" fmla="*/ 2962046 w 10332720"/>
              <a:gd name="csY30" fmla="*/ 1371600 h 1371600"/>
              <a:gd name="csX31" fmla="*/ 2479853 w 10332720"/>
              <a:gd name="csY31" fmla="*/ 1371600 h 1371600"/>
              <a:gd name="csX32" fmla="*/ 2100986 w 10332720"/>
              <a:gd name="csY32" fmla="*/ 1371600 h 1371600"/>
              <a:gd name="csX33" fmla="*/ 1412138 w 10332720"/>
              <a:gd name="csY33" fmla="*/ 1371600 h 1371600"/>
              <a:gd name="csX34" fmla="*/ 619963 w 10332720"/>
              <a:gd name="csY34" fmla="*/ 1371600 h 1371600"/>
              <a:gd name="csX35" fmla="*/ 0 w 10332720"/>
              <a:gd name="csY35" fmla="*/ 1371600 h 1371600"/>
              <a:gd name="csX36" fmla="*/ 0 w 10332720"/>
              <a:gd name="csY36" fmla="*/ 672084 h 1371600"/>
              <a:gd name="csX37" fmla="*/ 0 w 10332720"/>
              <a:gd name="csY37" fmla="*/ 0 h 1371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332720" h="1371600" fill="none" extrusionOk="0">
                <a:moveTo>
                  <a:pt x="0" y="0"/>
                </a:moveTo>
                <a:cubicBezTo>
                  <a:pt x="342809" y="15428"/>
                  <a:pt x="558447" y="35536"/>
                  <a:pt x="895502" y="0"/>
                </a:cubicBezTo>
                <a:cubicBezTo>
                  <a:pt x="1232557" y="-35536"/>
                  <a:pt x="1093169" y="13031"/>
                  <a:pt x="1274369" y="0"/>
                </a:cubicBezTo>
                <a:cubicBezTo>
                  <a:pt x="1455569" y="-13031"/>
                  <a:pt x="1709631" y="-13901"/>
                  <a:pt x="1963217" y="0"/>
                </a:cubicBezTo>
                <a:cubicBezTo>
                  <a:pt x="2216803" y="13901"/>
                  <a:pt x="2398254" y="17180"/>
                  <a:pt x="2652065" y="0"/>
                </a:cubicBezTo>
                <a:cubicBezTo>
                  <a:pt x="2905876" y="-17180"/>
                  <a:pt x="2965266" y="-2083"/>
                  <a:pt x="3134258" y="0"/>
                </a:cubicBezTo>
                <a:cubicBezTo>
                  <a:pt x="3303250" y="2083"/>
                  <a:pt x="3383599" y="12683"/>
                  <a:pt x="3616452" y="0"/>
                </a:cubicBezTo>
                <a:cubicBezTo>
                  <a:pt x="3849305" y="-12683"/>
                  <a:pt x="4115518" y="16008"/>
                  <a:pt x="4408627" y="0"/>
                </a:cubicBezTo>
                <a:cubicBezTo>
                  <a:pt x="4701737" y="-16008"/>
                  <a:pt x="4701680" y="14160"/>
                  <a:pt x="4787494" y="0"/>
                </a:cubicBezTo>
                <a:cubicBezTo>
                  <a:pt x="4873308" y="-14160"/>
                  <a:pt x="5012766" y="10801"/>
                  <a:pt x="5166360" y="0"/>
                </a:cubicBezTo>
                <a:cubicBezTo>
                  <a:pt x="5319954" y="-10801"/>
                  <a:pt x="5456182" y="18662"/>
                  <a:pt x="5648554" y="0"/>
                </a:cubicBezTo>
                <a:cubicBezTo>
                  <a:pt x="5840926" y="-18662"/>
                  <a:pt x="6176585" y="-26891"/>
                  <a:pt x="6337402" y="0"/>
                </a:cubicBezTo>
                <a:cubicBezTo>
                  <a:pt x="6498219" y="26891"/>
                  <a:pt x="6958182" y="-8689"/>
                  <a:pt x="7129577" y="0"/>
                </a:cubicBezTo>
                <a:cubicBezTo>
                  <a:pt x="7300972" y="8689"/>
                  <a:pt x="7487718" y="-19715"/>
                  <a:pt x="7818425" y="0"/>
                </a:cubicBezTo>
                <a:cubicBezTo>
                  <a:pt x="8149132" y="19715"/>
                  <a:pt x="8183809" y="916"/>
                  <a:pt x="8300618" y="0"/>
                </a:cubicBezTo>
                <a:cubicBezTo>
                  <a:pt x="8417427" y="-916"/>
                  <a:pt x="8581114" y="15438"/>
                  <a:pt x="8679485" y="0"/>
                </a:cubicBezTo>
                <a:cubicBezTo>
                  <a:pt x="8777856" y="-15438"/>
                  <a:pt x="9283689" y="-16931"/>
                  <a:pt x="9574987" y="0"/>
                </a:cubicBezTo>
                <a:cubicBezTo>
                  <a:pt x="9866285" y="16931"/>
                  <a:pt x="9998670" y="-26740"/>
                  <a:pt x="10332720" y="0"/>
                </a:cubicBezTo>
                <a:cubicBezTo>
                  <a:pt x="10328881" y="183036"/>
                  <a:pt x="10334795" y="517930"/>
                  <a:pt x="10332720" y="672084"/>
                </a:cubicBezTo>
                <a:cubicBezTo>
                  <a:pt x="10330645" y="826238"/>
                  <a:pt x="10317650" y="1182209"/>
                  <a:pt x="10332720" y="1371600"/>
                </a:cubicBezTo>
                <a:cubicBezTo>
                  <a:pt x="9952239" y="1410930"/>
                  <a:pt x="9670312" y="1415609"/>
                  <a:pt x="9437218" y="1371600"/>
                </a:cubicBezTo>
                <a:cubicBezTo>
                  <a:pt x="9204124" y="1327591"/>
                  <a:pt x="9151960" y="1390309"/>
                  <a:pt x="9058351" y="1371600"/>
                </a:cubicBezTo>
                <a:cubicBezTo>
                  <a:pt x="8964742" y="1352891"/>
                  <a:pt x="8860460" y="1380709"/>
                  <a:pt x="8679485" y="1371600"/>
                </a:cubicBezTo>
                <a:cubicBezTo>
                  <a:pt x="8498510" y="1362491"/>
                  <a:pt x="8169317" y="1384373"/>
                  <a:pt x="7990637" y="1371600"/>
                </a:cubicBezTo>
                <a:cubicBezTo>
                  <a:pt x="7811957" y="1358827"/>
                  <a:pt x="7699827" y="1355915"/>
                  <a:pt x="7508443" y="1371600"/>
                </a:cubicBezTo>
                <a:cubicBezTo>
                  <a:pt x="7317059" y="1387285"/>
                  <a:pt x="6810902" y="1397898"/>
                  <a:pt x="6612941" y="1371600"/>
                </a:cubicBezTo>
                <a:cubicBezTo>
                  <a:pt x="6414980" y="1345302"/>
                  <a:pt x="5921924" y="1334614"/>
                  <a:pt x="5717438" y="1371600"/>
                </a:cubicBezTo>
                <a:cubicBezTo>
                  <a:pt x="5512952" y="1408586"/>
                  <a:pt x="5182168" y="1380750"/>
                  <a:pt x="4925263" y="1371600"/>
                </a:cubicBezTo>
                <a:cubicBezTo>
                  <a:pt x="4668358" y="1362450"/>
                  <a:pt x="4686132" y="1367341"/>
                  <a:pt x="4546397" y="1371600"/>
                </a:cubicBezTo>
                <a:cubicBezTo>
                  <a:pt x="4406662" y="1375859"/>
                  <a:pt x="4113655" y="1354435"/>
                  <a:pt x="3857549" y="1371600"/>
                </a:cubicBezTo>
                <a:cubicBezTo>
                  <a:pt x="3601443" y="1388765"/>
                  <a:pt x="3280868" y="1342415"/>
                  <a:pt x="2962046" y="1371600"/>
                </a:cubicBezTo>
                <a:cubicBezTo>
                  <a:pt x="2643224" y="1400785"/>
                  <a:pt x="2633572" y="1359725"/>
                  <a:pt x="2479853" y="1371600"/>
                </a:cubicBezTo>
                <a:cubicBezTo>
                  <a:pt x="2326134" y="1383475"/>
                  <a:pt x="2283332" y="1370363"/>
                  <a:pt x="2100986" y="1371600"/>
                </a:cubicBezTo>
                <a:cubicBezTo>
                  <a:pt x="1918640" y="1372837"/>
                  <a:pt x="1719624" y="1403434"/>
                  <a:pt x="1412138" y="1371600"/>
                </a:cubicBezTo>
                <a:cubicBezTo>
                  <a:pt x="1104652" y="1339766"/>
                  <a:pt x="891471" y="1390083"/>
                  <a:pt x="619963" y="1371600"/>
                </a:cubicBezTo>
                <a:cubicBezTo>
                  <a:pt x="348455" y="1353117"/>
                  <a:pt x="155244" y="1358313"/>
                  <a:pt x="0" y="1371600"/>
                </a:cubicBezTo>
                <a:cubicBezTo>
                  <a:pt x="-28430" y="1101166"/>
                  <a:pt x="-27213" y="992429"/>
                  <a:pt x="0" y="672084"/>
                </a:cubicBezTo>
                <a:cubicBezTo>
                  <a:pt x="27213" y="351739"/>
                  <a:pt x="20630" y="167366"/>
                  <a:pt x="0" y="0"/>
                </a:cubicBezTo>
                <a:close/>
              </a:path>
              <a:path w="10332720" h="1371600" stroke="0" extrusionOk="0">
                <a:moveTo>
                  <a:pt x="0" y="0"/>
                </a:moveTo>
                <a:cubicBezTo>
                  <a:pt x="211203" y="21761"/>
                  <a:pt x="444973" y="22484"/>
                  <a:pt x="585521" y="0"/>
                </a:cubicBezTo>
                <a:cubicBezTo>
                  <a:pt x="726069" y="-22484"/>
                  <a:pt x="1164363" y="6329"/>
                  <a:pt x="1481023" y="0"/>
                </a:cubicBezTo>
                <a:cubicBezTo>
                  <a:pt x="1797683" y="-6329"/>
                  <a:pt x="1858433" y="-13324"/>
                  <a:pt x="2169871" y="0"/>
                </a:cubicBezTo>
                <a:cubicBezTo>
                  <a:pt x="2481309" y="13324"/>
                  <a:pt x="2792352" y="-29073"/>
                  <a:pt x="3065374" y="0"/>
                </a:cubicBezTo>
                <a:cubicBezTo>
                  <a:pt x="3338396" y="29073"/>
                  <a:pt x="3411499" y="14773"/>
                  <a:pt x="3650894" y="0"/>
                </a:cubicBezTo>
                <a:cubicBezTo>
                  <a:pt x="3890289" y="-14773"/>
                  <a:pt x="4004106" y="-12240"/>
                  <a:pt x="4236415" y="0"/>
                </a:cubicBezTo>
                <a:cubicBezTo>
                  <a:pt x="4468724" y="12240"/>
                  <a:pt x="4922770" y="3930"/>
                  <a:pt x="5131918" y="0"/>
                </a:cubicBezTo>
                <a:cubicBezTo>
                  <a:pt x="5341066" y="-3930"/>
                  <a:pt x="5446590" y="-18150"/>
                  <a:pt x="5614111" y="0"/>
                </a:cubicBezTo>
                <a:cubicBezTo>
                  <a:pt x="5781632" y="18150"/>
                  <a:pt x="6124812" y="12886"/>
                  <a:pt x="6302959" y="0"/>
                </a:cubicBezTo>
                <a:cubicBezTo>
                  <a:pt x="6481106" y="-12886"/>
                  <a:pt x="6903682" y="-34178"/>
                  <a:pt x="7198462" y="0"/>
                </a:cubicBezTo>
                <a:cubicBezTo>
                  <a:pt x="7493242" y="34178"/>
                  <a:pt x="7748845" y="5293"/>
                  <a:pt x="8093964" y="0"/>
                </a:cubicBezTo>
                <a:cubicBezTo>
                  <a:pt x="8439083" y="-5293"/>
                  <a:pt x="8415620" y="-14857"/>
                  <a:pt x="8679485" y="0"/>
                </a:cubicBezTo>
                <a:cubicBezTo>
                  <a:pt x="8943350" y="14857"/>
                  <a:pt x="9259309" y="34559"/>
                  <a:pt x="9471660" y="0"/>
                </a:cubicBezTo>
                <a:cubicBezTo>
                  <a:pt x="9684012" y="-34559"/>
                  <a:pt x="10021749" y="-30702"/>
                  <a:pt x="10332720" y="0"/>
                </a:cubicBezTo>
                <a:cubicBezTo>
                  <a:pt x="10340754" y="344362"/>
                  <a:pt x="10304386" y="536340"/>
                  <a:pt x="10332720" y="713232"/>
                </a:cubicBezTo>
                <a:cubicBezTo>
                  <a:pt x="10361054" y="890124"/>
                  <a:pt x="10314272" y="1222615"/>
                  <a:pt x="10332720" y="1371600"/>
                </a:cubicBezTo>
                <a:cubicBezTo>
                  <a:pt x="10094468" y="1411080"/>
                  <a:pt x="9928723" y="1360905"/>
                  <a:pt x="9540545" y="1371600"/>
                </a:cubicBezTo>
                <a:cubicBezTo>
                  <a:pt x="9152367" y="1382295"/>
                  <a:pt x="9192494" y="1376742"/>
                  <a:pt x="8851697" y="1371600"/>
                </a:cubicBezTo>
                <a:cubicBezTo>
                  <a:pt x="8510900" y="1366458"/>
                  <a:pt x="8420314" y="1392599"/>
                  <a:pt x="8162849" y="1371600"/>
                </a:cubicBezTo>
                <a:cubicBezTo>
                  <a:pt x="7905384" y="1350601"/>
                  <a:pt x="7448766" y="1373155"/>
                  <a:pt x="7267346" y="1371600"/>
                </a:cubicBezTo>
                <a:cubicBezTo>
                  <a:pt x="7085926" y="1370045"/>
                  <a:pt x="6992452" y="1364056"/>
                  <a:pt x="6888480" y="1371600"/>
                </a:cubicBezTo>
                <a:cubicBezTo>
                  <a:pt x="6784508" y="1379144"/>
                  <a:pt x="6366994" y="1391889"/>
                  <a:pt x="6096305" y="1371600"/>
                </a:cubicBezTo>
                <a:cubicBezTo>
                  <a:pt x="5825616" y="1351311"/>
                  <a:pt x="5807496" y="1357076"/>
                  <a:pt x="5717438" y="1371600"/>
                </a:cubicBezTo>
                <a:cubicBezTo>
                  <a:pt x="5627380" y="1386124"/>
                  <a:pt x="5289450" y="1357414"/>
                  <a:pt x="4925263" y="1371600"/>
                </a:cubicBezTo>
                <a:cubicBezTo>
                  <a:pt x="4561077" y="1385786"/>
                  <a:pt x="4713935" y="1354903"/>
                  <a:pt x="4546397" y="1371600"/>
                </a:cubicBezTo>
                <a:cubicBezTo>
                  <a:pt x="4378859" y="1388297"/>
                  <a:pt x="4198801" y="1354258"/>
                  <a:pt x="3857549" y="1371600"/>
                </a:cubicBezTo>
                <a:cubicBezTo>
                  <a:pt x="3516297" y="1388942"/>
                  <a:pt x="3600149" y="1386702"/>
                  <a:pt x="3375355" y="1371600"/>
                </a:cubicBezTo>
                <a:cubicBezTo>
                  <a:pt x="3150561" y="1356498"/>
                  <a:pt x="2787082" y="1380137"/>
                  <a:pt x="2479853" y="1371600"/>
                </a:cubicBezTo>
                <a:cubicBezTo>
                  <a:pt x="2172624" y="1363063"/>
                  <a:pt x="2120071" y="1384372"/>
                  <a:pt x="1997659" y="1371600"/>
                </a:cubicBezTo>
                <a:cubicBezTo>
                  <a:pt x="1875247" y="1358828"/>
                  <a:pt x="1576984" y="1366656"/>
                  <a:pt x="1205484" y="1371600"/>
                </a:cubicBezTo>
                <a:cubicBezTo>
                  <a:pt x="833985" y="1376544"/>
                  <a:pt x="374406" y="1410889"/>
                  <a:pt x="0" y="1371600"/>
                </a:cubicBezTo>
                <a:cubicBezTo>
                  <a:pt x="10069" y="1113954"/>
                  <a:pt x="-15157" y="929543"/>
                  <a:pt x="0" y="699516"/>
                </a:cubicBezTo>
                <a:cubicBezTo>
                  <a:pt x="15157" y="469489"/>
                  <a:pt x="-4643" y="151202"/>
                  <a:pt x="0" y="0"/>
                </a:cubicBezTo>
                <a:close/>
              </a:path>
            </a:pathLst>
          </a:custGeom>
          <a:ln>
            <a:extLst>
              <a:ext uri="{C807C97D-BFC1-408E-A445-0C87EB9F89A2}">
                <ask:lineSketchStyleProps xmlns:ask="http://schemas.microsoft.com/office/drawing/2018/sketchyshapes" sd="2932082589">
                  <a:prstGeom prst="rect">
                    <a:avLst/>
                  </a:prstGeom>
                  <ask:type>
                    <ask:lineSketchFreehand/>
                  </ask:type>
                </ask:lineSketchStyleProps>
              </a:ext>
            </a:extLst>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sz="5200" b="1" dirty="0">
                <a:solidFill>
                  <a:srgbClr val="1A73E8"/>
                </a:solidFill>
                <a:latin typeface="Calibri"/>
              </a:rPr>
              <a:t>An In-Depth Guide to Google Ads</a:t>
            </a:r>
          </a:p>
        </p:txBody>
      </p:sp>
      <p:sp>
        <p:nvSpPr>
          <p:cNvPr id="9" name="TextBox 8">
            <a:extLst>
              <a:ext uri="{FF2B5EF4-FFF2-40B4-BE49-F238E27FC236}">
                <a16:creationId xmlns:a16="http://schemas.microsoft.com/office/drawing/2014/main" id="{B10DA4DD-AB89-2920-6585-5860FC2B3163}"/>
              </a:ext>
            </a:extLst>
          </p:cNvPr>
          <p:cNvSpPr txBox="1"/>
          <p:nvPr/>
        </p:nvSpPr>
        <p:spPr>
          <a:xfrm>
            <a:off x="4117012" y="3334191"/>
            <a:ext cx="3927495" cy="523220"/>
          </a:xfrm>
          <a:prstGeom prst="rect">
            <a:avLst/>
          </a:prstGeom>
          <a:noFill/>
        </p:spPr>
        <p:txBody>
          <a:bodyPr wrap="square" rtlCol="0">
            <a:spAutoFit/>
          </a:bodyPr>
          <a:lstStyle/>
          <a:p>
            <a:r>
              <a:rPr lang="en-IN" sz="2800" dirty="0"/>
              <a:t>Course: Digital Marketing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1247120" cy="822960"/>
          </a:xfrm>
          <a:prstGeom prst="rect">
            <a:avLst/>
          </a:prstGeom>
          <a:noFill/>
        </p:spPr>
        <p:txBody>
          <a:bodyPr wrap="square">
            <a:spAutoFit/>
          </a:bodyPr>
          <a:lstStyle/>
          <a:p>
            <a:r>
              <a:rPr sz="3600" b="1">
                <a:solidFill>
                  <a:srgbClr val="1A73E8"/>
                </a:solidFill>
                <a:latin typeface="Calibri"/>
              </a:rPr>
              <a:t>What We'll Cover Today</a:t>
            </a:r>
          </a:p>
        </p:txBody>
      </p:sp>
      <p:sp>
        <p:nvSpPr>
          <p:cNvPr id="3" name="Rectangle 2"/>
          <p:cNvSpPr/>
          <p:nvPr/>
        </p:nvSpPr>
        <p:spPr>
          <a:xfrm>
            <a:off x="502920" y="91440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417320"/>
            <a:ext cx="10972800" cy="5029200"/>
          </a:xfrm>
          <a:prstGeom prst="rect">
            <a:avLst/>
          </a:prstGeom>
          <a:noFill/>
        </p:spPr>
        <p:txBody>
          <a:bodyPr wrap="square">
            <a:spAutoFit/>
          </a:bodyPr>
          <a:lstStyle/>
          <a:p>
            <a:pPr>
              <a:spcAft>
                <a:spcPts val="800"/>
              </a:spcAft>
            </a:pPr>
            <a:r>
              <a:rPr sz="2400" b="1">
                <a:solidFill>
                  <a:srgbClr val="1A73E8"/>
                </a:solidFill>
                <a:latin typeface="Calibri"/>
              </a:rPr>
              <a:t>● Section 1: Google Ads Fundamentals (what it is, when to use it, how it works)</a:t>
            </a:r>
          </a:p>
          <a:p>
            <a:pPr>
              <a:spcAft>
                <a:spcPts val="800"/>
              </a:spcAft>
            </a:pPr>
            <a:r>
              <a:rPr sz="2400" b="1">
                <a:solidFill>
                  <a:srgbClr val="F58B00"/>
                </a:solidFill>
                <a:latin typeface="Calibri"/>
              </a:rPr>
              <a:t>● Section 2: Core Terminology — one concept per slide (Keywords, Quality Score, Ad Rank, CTR, etc.)</a:t>
            </a:r>
          </a:p>
          <a:p>
            <a:pPr>
              <a:spcAft>
                <a:spcPts val="800"/>
              </a:spcAft>
            </a:pPr>
            <a:r>
              <a:rPr sz="2400" b="1">
                <a:solidFill>
                  <a:srgbClr val="0F9D58"/>
                </a:solidFill>
                <a:latin typeface="Calibri"/>
              </a:rPr>
              <a:t>● Section 3: Costs &amp; Budgeting</a:t>
            </a:r>
          </a:p>
          <a:p>
            <a:pPr>
              <a:spcAft>
                <a:spcPts val="800"/>
              </a:spcAft>
            </a:pPr>
            <a:r>
              <a:rPr sz="2400" b="1">
                <a:solidFill>
                  <a:srgbClr val="D93025"/>
                </a:solidFill>
                <a:latin typeface="Calibri"/>
              </a:rPr>
              <a:t>● Section 4: Campaign Types (Search, Display, Shopping, Video, App, Performance Max)</a:t>
            </a:r>
          </a:p>
          <a:p>
            <a:pPr>
              <a:spcAft>
                <a:spcPts val="800"/>
              </a:spcAft>
            </a:pPr>
            <a:r>
              <a:rPr sz="2400" b="1">
                <a:solidFill>
                  <a:srgbClr val="9C27B0"/>
                </a:solidFill>
                <a:latin typeface="Calibri"/>
              </a:rPr>
              <a:t>● Section 5: Bidding Strategies</a:t>
            </a:r>
          </a:p>
          <a:p>
            <a:pPr>
              <a:spcAft>
                <a:spcPts val="800"/>
              </a:spcAft>
            </a:pPr>
            <a:r>
              <a:rPr sz="2400" b="1">
                <a:solidFill>
                  <a:srgbClr val="009688"/>
                </a:solidFill>
                <a:latin typeface="Calibri"/>
              </a:rPr>
              <a:t>● Section 6: Conversion Tracking, Getting Started &amp; Best Practices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1247120" cy="822960"/>
          </a:xfrm>
          <a:prstGeom prst="rect">
            <a:avLst/>
          </a:prstGeom>
          <a:noFill/>
        </p:spPr>
        <p:txBody>
          <a:bodyPr wrap="square">
            <a:spAutoFit/>
          </a:bodyPr>
          <a:lstStyle/>
          <a:p>
            <a:r>
              <a:rPr sz="3600" b="1">
                <a:solidFill>
                  <a:srgbClr val="1A73E8"/>
                </a:solidFill>
                <a:latin typeface="Calibri"/>
              </a:rPr>
              <a:t>What Is Google Ads?</a:t>
            </a:r>
          </a:p>
        </p:txBody>
      </p:sp>
      <p:sp>
        <p:nvSpPr>
          <p:cNvPr id="3" name="Rectangle 2"/>
          <p:cNvSpPr/>
          <p:nvPr/>
        </p:nvSpPr>
        <p:spPr>
          <a:xfrm>
            <a:off x="502920" y="91440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417320"/>
            <a:ext cx="11201400" cy="100584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A paid online advertising platform where businesses bid to display ads across Google's properties (Search, YouTube, Gmail, Play, partner sites).</a:t>
            </a:r>
          </a:p>
        </p:txBody>
      </p:sp>
      <p:sp>
        <p:nvSpPr>
          <p:cNvPr id="5" name="TextBox 4"/>
          <p:cNvSpPr txBox="1"/>
          <p:nvPr/>
        </p:nvSpPr>
        <p:spPr>
          <a:xfrm>
            <a:off x="548640" y="2651760"/>
            <a:ext cx="10972800" cy="2194560"/>
          </a:xfrm>
          <a:prstGeom prst="rect">
            <a:avLst/>
          </a:prstGeom>
          <a:noFill/>
        </p:spPr>
        <p:txBody>
          <a:bodyPr wrap="square">
            <a:spAutoFit/>
          </a:bodyPr>
          <a:lstStyle/>
          <a:p>
            <a:pPr>
              <a:spcAft>
                <a:spcPts val="800"/>
              </a:spcAft>
            </a:pPr>
            <a:r>
              <a:rPr sz="2200" b="1">
                <a:solidFill>
                  <a:srgbClr val="F58B00"/>
                </a:solidFill>
                <a:latin typeface="Calibri"/>
              </a:rPr>
              <a:t>● Launched October 2000 as 'Google AdWords'</a:t>
            </a:r>
          </a:p>
          <a:p>
            <a:pPr>
              <a:spcAft>
                <a:spcPts val="800"/>
              </a:spcAft>
            </a:pPr>
            <a:r>
              <a:rPr sz="2200" b="1">
                <a:solidFill>
                  <a:srgbClr val="0F9D58"/>
                </a:solidFill>
                <a:latin typeface="Calibri"/>
              </a:rPr>
              <a:t>● Renamed 'Google Ads' in July 2018 to reflect its expanded ad formats</a:t>
            </a:r>
          </a:p>
          <a:p>
            <a:pPr>
              <a:spcAft>
                <a:spcPts val="800"/>
              </a:spcAft>
            </a:pPr>
            <a:r>
              <a:rPr sz="2200" b="1">
                <a:solidFill>
                  <a:srgbClr val="D93025"/>
                </a:solidFill>
                <a:latin typeface="Calibri"/>
              </a:rPr>
              <a:t>● Advertisers only pay when specific actions happen (e.g., a click) — not just for being shown</a:t>
            </a:r>
          </a:p>
        </p:txBody>
      </p:sp>
      <p:sp>
        <p:nvSpPr>
          <p:cNvPr id="6" name="Rounded Rectangle 5"/>
          <p:cNvSpPr/>
          <p:nvPr/>
        </p:nvSpPr>
        <p:spPr>
          <a:xfrm>
            <a:off x="548640" y="5029200"/>
            <a:ext cx="3566160" cy="118872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Search Ads
(Most Common)</a:t>
            </a:r>
          </a:p>
        </p:txBody>
      </p:sp>
      <p:sp>
        <p:nvSpPr>
          <p:cNvPr id="7" name="Rounded Rectangle 6"/>
          <p:cNvSpPr/>
          <p:nvPr/>
        </p:nvSpPr>
        <p:spPr>
          <a:xfrm>
            <a:off x="4343400" y="5029200"/>
            <a:ext cx="3566160" cy="1188720"/>
          </a:xfrm>
          <a:prstGeom prst="roundRect">
            <a:avLst/>
          </a:prstGeom>
          <a:solidFill>
            <a:srgbClr val="F58B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Appear on SERP
above organic results</a:t>
            </a:r>
          </a:p>
        </p:txBody>
      </p:sp>
      <p:sp>
        <p:nvSpPr>
          <p:cNvPr id="8" name="Rounded Rectangle 7"/>
          <p:cNvSpPr/>
          <p:nvPr/>
        </p:nvSpPr>
        <p:spPr>
          <a:xfrm>
            <a:off x="8138160" y="5029200"/>
            <a:ext cx="3566160" cy="1188720"/>
          </a:xfrm>
          <a:prstGeom prst="roundRect">
            <a:avLst/>
          </a:prstGeom>
          <a:solidFill>
            <a:srgbClr val="0F9D5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Labeled
'Sponsored'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1247120" cy="822960"/>
          </a:xfrm>
          <a:prstGeom prst="rect">
            <a:avLst/>
          </a:prstGeom>
          <a:noFill/>
        </p:spPr>
        <p:txBody>
          <a:bodyPr wrap="square">
            <a:spAutoFit/>
          </a:bodyPr>
          <a:lstStyle/>
          <a:p>
            <a:r>
              <a:rPr sz="3600" b="1">
                <a:solidFill>
                  <a:srgbClr val="F58B00"/>
                </a:solidFill>
                <a:latin typeface="Calibri"/>
              </a:rPr>
              <a:t>When Should You Use Google Ads?</a:t>
            </a:r>
          </a:p>
        </p:txBody>
      </p:sp>
      <p:sp>
        <p:nvSpPr>
          <p:cNvPr id="3" name="Rectangle 2"/>
          <p:cNvSpPr/>
          <p:nvPr/>
        </p:nvSpPr>
        <p:spPr>
          <a:xfrm>
            <a:off x="502920" y="91440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417320"/>
            <a:ext cx="3429000" cy="141732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Start a New
Business</a:t>
            </a:r>
          </a:p>
        </p:txBody>
      </p:sp>
      <p:sp>
        <p:nvSpPr>
          <p:cNvPr id="5" name="Rounded Rectangle 4"/>
          <p:cNvSpPr/>
          <p:nvPr/>
        </p:nvSpPr>
        <p:spPr>
          <a:xfrm>
            <a:off x="4297680" y="1417320"/>
            <a:ext cx="3429000" cy="1417320"/>
          </a:xfrm>
          <a:prstGeom prst="roundRect">
            <a:avLst/>
          </a:prstGeom>
          <a:solidFill>
            <a:srgbClr val="F58B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Increase Lead
Generation</a:t>
            </a:r>
          </a:p>
        </p:txBody>
      </p:sp>
      <p:sp>
        <p:nvSpPr>
          <p:cNvPr id="6" name="Rounded Rectangle 5"/>
          <p:cNvSpPr/>
          <p:nvPr/>
        </p:nvSpPr>
        <p:spPr>
          <a:xfrm>
            <a:off x="8046720" y="1417320"/>
            <a:ext cx="3429000" cy="1417320"/>
          </a:xfrm>
          <a:prstGeom prst="roundRect">
            <a:avLst/>
          </a:prstGeom>
          <a:solidFill>
            <a:srgbClr val="0F9D5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Boost Sales
&amp; Revenue</a:t>
            </a:r>
          </a:p>
        </p:txBody>
      </p:sp>
      <p:sp>
        <p:nvSpPr>
          <p:cNvPr id="7" name="Rounded Rectangle 6"/>
          <p:cNvSpPr/>
          <p:nvPr/>
        </p:nvSpPr>
        <p:spPr>
          <a:xfrm>
            <a:off x="548640" y="3017520"/>
            <a:ext cx="3429000" cy="1417320"/>
          </a:xfrm>
          <a:prstGeom prst="roundRect">
            <a:avLst/>
          </a:prstGeom>
          <a:solidFill>
            <a:srgbClr val="D9302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Promote Time-
Sensitive Content</a:t>
            </a:r>
          </a:p>
        </p:txBody>
      </p:sp>
      <p:sp>
        <p:nvSpPr>
          <p:cNvPr id="8" name="Rounded Rectangle 7"/>
          <p:cNvSpPr/>
          <p:nvPr/>
        </p:nvSpPr>
        <p:spPr>
          <a:xfrm>
            <a:off x="4297680" y="3017520"/>
            <a:ext cx="3429000" cy="1417320"/>
          </a:xfrm>
          <a:prstGeom prst="roundRect">
            <a:avLst/>
          </a:prstGeom>
          <a:solidFill>
            <a:srgbClr val="9C27B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Reach New
Audiences</a:t>
            </a:r>
          </a:p>
        </p:txBody>
      </p:sp>
      <p:sp>
        <p:nvSpPr>
          <p:cNvPr id="9" name="Rounded Rectangle 8"/>
          <p:cNvSpPr/>
          <p:nvPr/>
        </p:nvSpPr>
        <p:spPr>
          <a:xfrm>
            <a:off x="8046720" y="3017520"/>
            <a:ext cx="3429000" cy="1417320"/>
          </a:xfrm>
          <a:prstGeom prst="roundRect">
            <a:avLst/>
          </a:prstGeom>
          <a:solidFill>
            <a:srgbClr val="0096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Win Back Site
Visitors (Remarketing)</a:t>
            </a:r>
          </a:p>
        </p:txBody>
      </p:sp>
      <p:sp>
        <p:nvSpPr>
          <p:cNvPr id="10" name="TextBox 9"/>
          <p:cNvSpPr txBox="1"/>
          <p:nvPr/>
        </p:nvSpPr>
        <p:spPr>
          <a:xfrm>
            <a:off x="548640" y="4663440"/>
            <a:ext cx="10789920" cy="457200"/>
          </a:xfrm>
          <a:prstGeom prst="rect">
            <a:avLst/>
          </a:prstGeom>
          <a:noFill/>
        </p:spPr>
        <p:txBody>
          <a:bodyPr wrap="square">
            <a:spAutoFit/>
          </a:bodyPr>
          <a:lstStyle/>
          <a:p>
            <a:pPr algn="l"/>
            <a:r>
              <a:rPr sz="1800" b="1" i="0">
                <a:solidFill>
                  <a:srgbClr val="202020"/>
                </a:solidFill>
                <a:latin typeface="Calibri"/>
              </a:rPr>
              <a:t>Rule of thumb: if organic (SEO) traffic alone can't meet your timeline or reach goal, Google Ads fills the gap.</a:t>
            </a:r>
          </a:p>
        </p:txBody>
      </p:sp>
      <p:sp>
        <p:nvSpPr>
          <p:cNvPr id="11" name="TextBox 10"/>
          <p:cNvSpPr txBox="1"/>
          <p:nvPr/>
        </p:nvSpPr>
        <p:spPr>
          <a:xfrm>
            <a:off x="548640" y="5212080"/>
            <a:ext cx="10972800" cy="1097280"/>
          </a:xfrm>
          <a:prstGeom prst="rect">
            <a:avLst/>
          </a:prstGeom>
          <a:noFill/>
        </p:spPr>
        <p:txBody>
          <a:bodyPr wrap="square">
            <a:spAutoFit/>
          </a:bodyPr>
          <a:lstStyle/>
          <a:p>
            <a:pPr>
              <a:spcAft>
                <a:spcPts val="800"/>
              </a:spcAft>
            </a:pPr>
            <a:r>
              <a:rPr sz="1800" b="1">
                <a:solidFill>
                  <a:srgbClr val="757575"/>
                </a:solidFill>
                <a:latin typeface="Calibri"/>
              </a:rPr>
              <a:t>● Example: A new bakery wants local customers this week, not in 6 months (SEO timeline) → Google Ads gives instant visibility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1247120" cy="822960"/>
          </a:xfrm>
          <a:prstGeom prst="rect">
            <a:avLst/>
          </a:prstGeom>
          <a:noFill/>
        </p:spPr>
        <p:txBody>
          <a:bodyPr wrap="square">
            <a:spAutoFit/>
          </a:bodyPr>
          <a:lstStyle/>
          <a:p>
            <a:r>
              <a:rPr sz="3600" b="1">
                <a:solidFill>
                  <a:srgbClr val="0F9D58"/>
                </a:solidFill>
                <a:latin typeface="Calibri"/>
              </a:rPr>
              <a:t>How Google Ads Works: The Auction</a:t>
            </a:r>
          </a:p>
        </p:txBody>
      </p:sp>
      <p:sp>
        <p:nvSpPr>
          <p:cNvPr id="3" name="Rectangle 2"/>
          <p:cNvSpPr/>
          <p:nvPr/>
        </p:nvSpPr>
        <p:spPr>
          <a:xfrm>
            <a:off x="502920" y="91440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371600"/>
            <a:ext cx="3291840" cy="118872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1. User Searches
a Keyword</a:t>
            </a:r>
          </a:p>
        </p:txBody>
      </p:sp>
      <p:sp>
        <p:nvSpPr>
          <p:cNvPr id="5" name="Rounded Rectangle 4"/>
          <p:cNvSpPr/>
          <p:nvPr/>
        </p:nvSpPr>
        <p:spPr>
          <a:xfrm>
            <a:off x="4480560" y="1371600"/>
            <a:ext cx="3291840" cy="1188720"/>
          </a:xfrm>
          <a:prstGeom prst="roundRect">
            <a:avLst/>
          </a:prstGeom>
          <a:solidFill>
            <a:srgbClr val="F58B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2. Google Runs a
Real-Time Auction</a:t>
            </a:r>
          </a:p>
        </p:txBody>
      </p:sp>
      <p:sp>
        <p:nvSpPr>
          <p:cNvPr id="6" name="Rounded Rectangle 5"/>
          <p:cNvSpPr/>
          <p:nvPr/>
        </p:nvSpPr>
        <p:spPr>
          <a:xfrm>
            <a:off x="8412480" y="1371600"/>
            <a:ext cx="3291840" cy="1188720"/>
          </a:xfrm>
          <a:prstGeom prst="roundRect">
            <a:avLst/>
          </a:prstGeom>
          <a:solidFill>
            <a:srgbClr val="0F9D5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3. Ad Rank Decides
Who Shows &amp; Where</a:t>
            </a:r>
          </a:p>
        </p:txBody>
      </p:sp>
      <p:sp>
        <p:nvSpPr>
          <p:cNvPr id="7" name="Right Arrow 6"/>
          <p:cNvSpPr/>
          <p:nvPr/>
        </p:nvSpPr>
        <p:spPr>
          <a:xfrm>
            <a:off x="3794760" y="1783080"/>
            <a:ext cx="594360" cy="411480"/>
          </a:xfrm>
          <a:prstGeom prst="rightArrow">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ight Arrow 7"/>
          <p:cNvSpPr/>
          <p:nvPr/>
        </p:nvSpPr>
        <p:spPr>
          <a:xfrm>
            <a:off x="7726679" y="1783080"/>
            <a:ext cx="594360" cy="411480"/>
          </a:xfrm>
          <a:prstGeom prst="rightArrow">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926080"/>
            <a:ext cx="10972800" cy="1938992"/>
          </a:xfrm>
          <a:prstGeom prst="rect">
            <a:avLst/>
          </a:prstGeom>
          <a:noFill/>
        </p:spPr>
        <p:txBody>
          <a:bodyPr wrap="square">
            <a:spAutoFit/>
          </a:bodyPr>
          <a:lstStyle/>
          <a:p>
            <a:pPr>
              <a:spcAft>
                <a:spcPts val="800"/>
              </a:spcAft>
            </a:pPr>
            <a:r>
              <a:rPr sz="2000" b="1" dirty="0">
                <a:solidFill>
                  <a:srgbClr val="1A73E8"/>
                </a:solidFill>
                <a:latin typeface="Calibri"/>
              </a:rPr>
              <a:t>● Pricing model 1 — CPC (Cost-Per-Click): pay only when someone clicks your ad</a:t>
            </a:r>
          </a:p>
          <a:p>
            <a:pPr>
              <a:spcAft>
                <a:spcPts val="800"/>
              </a:spcAft>
            </a:pPr>
            <a:r>
              <a:rPr sz="2000" b="1" dirty="0">
                <a:solidFill>
                  <a:srgbClr val="F58B00"/>
                </a:solidFill>
                <a:latin typeface="Calibri"/>
              </a:rPr>
              <a:t>● Pricing model 2 — CPM (Cost-Per-Mille): pay per 1,000 impressions, used for awareness campaigns</a:t>
            </a:r>
          </a:p>
          <a:p>
            <a:pPr>
              <a:spcAft>
                <a:spcPts val="800"/>
              </a:spcAft>
            </a:pPr>
            <a:r>
              <a:rPr sz="2000" b="1" dirty="0">
                <a:solidFill>
                  <a:srgbClr val="9C27B0"/>
                </a:solidFill>
                <a:latin typeface="Calibri"/>
              </a:rPr>
              <a:t>● Advertisers set a 'maximum bid' — the most they're willing to pay, not necessarily what they'll be charged</a:t>
            </a:r>
          </a:p>
          <a:p>
            <a:pPr>
              <a:spcAft>
                <a:spcPts val="800"/>
              </a:spcAft>
            </a:pPr>
            <a:r>
              <a:rPr sz="2000" b="1" dirty="0">
                <a:solidFill>
                  <a:srgbClr val="757575"/>
                </a:solidFill>
                <a:latin typeface="Calibri"/>
              </a:rPr>
              <a:t>Example: You bid a maximum of $3.00 for a click, but Ad Rank math may only charge you $1.80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73E8"/>
        </a:solidFill>
        <a:effectLst/>
      </p:bgPr>
    </p:bg>
    <p:spTree>
      <p:nvGrpSpPr>
        <p:cNvPr id="1" name=""/>
        <p:cNvGrpSpPr/>
        <p:nvPr/>
      </p:nvGrpSpPr>
      <p:grpSpPr>
        <a:xfrm>
          <a:off x="0" y="0"/>
          <a:ext cx="0" cy="0"/>
          <a:chOff x="0" y="0"/>
          <a:chExt cx="0" cy="0"/>
        </a:xfrm>
      </p:grpSpPr>
      <p:sp>
        <p:nvSpPr>
          <p:cNvPr id="2" name="TextBox 1"/>
          <p:cNvSpPr txBox="1"/>
          <p:nvPr/>
        </p:nvSpPr>
        <p:spPr>
          <a:xfrm>
            <a:off x="914400" y="2743200"/>
            <a:ext cx="10332720" cy="1371600"/>
          </a:xfrm>
          <a:prstGeom prst="rect">
            <a:avLst/>
          </a:prstGeom>
          <a:noFill/>
        </p:spPr>
        <p:txBody>
          <a:bodyPr wrap="square">
            <a:spAutoFit/>
          </a:bodyPr>
          <a:lstStyle/>
          <a:p>
            <a:pPr algn="ctr"/>
            <a:r>
              <a:rPr sz="4800" b="1">
                <a:solidFill>
                  <a:srgbClr val="FFFFFF"/>
                </a:solidFill>
                <a:latin typeface="Calibri"/>
              </a:rPr>
              <a:t>Section 2: Core Terminology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1 of 11</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1A73E8"/>
                </a:solidFill>
                <a:latin typeface="Calibri"/>
              </a:rPr>
              <a:t>Keyword — Broad Match</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91440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The default match type. Your ad can show for searches related in meaning to your keyword — even without shared words.</a:t>
            </a:r>
          </a:p>
        </p:txBody>
      </p:sp>
      <p:sp>
        <p:nvSpPr>
          <p:cNvPr id="6" name="TextBox 5"/>
          <p:cNvSpPr txBox="1"/>
          <p:nvPr/>
        </p:nvSpPr>
        <p:spPr>
          <a:xfrm>
            <a:off x="548640" y="2606040"/>
            <a:ext cx="2926080" cy="365760"/>
          </a:xfrm>
          <a:prstGeom prst="rect">
            <a:avLst/>
          </a:prstGeom>
          <a:noFill/>
        </p:spPr>
        <p:txBody>
          <a:bodyPr wrap="square">
            <a:spAutoFit/>
          </a:bodyPr>
          <a:lstStyle/>
          <a:p>
            <a:pPr algn="l"/>
            <a:r>
              <a:rPr sz="1600" b="1" i="0">
                <a:solidFill>
                  <a:srgbClr val="757575"/>
                </a:solidFill>
                <a:latin typeface="Calibri"/>
              </a:rPr>
              <a:t>SYNTAX:</a:t>
            </a:r>
          </a:p>
        </p:txBody>
      </p:sp>
      <p:sp>
        <p:nvSpPr>
          <p:cNvPr id="7" name="Rectangle 6"/>
          <p:cNvSpPr/>
          <p:nvPr/>
        </p:nvSpPr>
        <p:spPr>
          <a:xfrm>
            <a:off x="548640" y="2971800"/>
            <a:ext cx="2926080" cy="640080"/>
          </a:xfrm>
          <a:prstGeom prst="rect">
            <a:avLst/>
          </a:prstGeom>
          <a:solidFill>
            <a:srgbClr val="E3F2F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1A73E8"/>
                </a:solidFill>
                <a:latin typeface="Calibri"/>
              </a:rPr>
              <a:t>running shoes</a:t>
            </a:r>
          </a:p>
        </p:txBody>
      </p:sp>
      <p:sp>
        <p:nvSpPr>
          <p:cNvPr id="8" name="TextBox 7"/>
          <p:cNvSpPr txBox="1"/>
          <p:nvPr/>
        </p:nvSpPr>
        <p:spPr>
          <a:xfrm>
            <a:off x="3840480" y="2606040"/>
            <a:ext cx="7315200" cy="365760"/>
          </a:xfrm>
          <a:prstGeom prst="rect">
            <a:avLst/>
          </a:prstGeom>
          <a:noFill/>
        </p:spPr>
        <p:txBody>
          <a:bodyPr wrap="square">
            <a:spAutoFit/>
          </a:bodyPr>
          <a:lstStyle/>
          <a:p>
            <a:pPr algn="l"/>
            <a:r>
              <a:rPr sz="1600" b="1" i="0" dirty="0">
                <a:solidFill>
                  <a:srgbClr val="757575"/>
                </a:solidFill>
                <a:latin typeface="Calibri"/>
              </a:rPr>
              <a:t>MOCK SEARCH RESULT (SERP):</a:t>
            </a:r>
          </a:p>
        </p:txBody>
      </p:sp>
      <p:sp>
        <p:nvSpPr>
          <p:cNvPr id="9" name="Rectangle 8"/>
          <p:cNvSpPr/>
          <p:nvPr/>
        </p:nvSpPr>
        <p:spPr>
          <a:xfrm>
            <a:off x="3840480" y="2971800"/>
            <a:ext cx="7772400" cy="1188720"/>
          </a:xfrm>
          <a:prstGeom prst="rect">
            <a:avLst/>
          </a:prstGeom>
          <a:solidFill>
            <a:srgbClr val="FFFFFF"/>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a:solidFill>
                  <a:srgbClr val="0F9D58"/>
                </a:solidFill>
              </a:rPr>
              <a:t>Sponsored </a:t>
            </a:r>
            <a:r>
              <a:rPr sz="1200">
                <a:solidFill>
                  <a:srgbClr val="757575"/>
                </a:solidFill>
              </a:rPr>
              <a:t>  athleticsneakers.com</a:t>
            </a:r>
          </a:p>
          <a:p>
            <a:r>
              <a:rPr sz="1600" b="1">
                <a:solidFill>
                  <a:srgbClr val="1A73E8"/>
                </a:solidFill>
              </a:rPr>
              <a:t>Best Athletic Sneakers &amp; Jogging Footwear - Free Shipping</a:t>
            </a:r>
          </a:p>
        </p:txBody>
      </p:sp>
      <p:sp>
        <p:nvSpPr>
          <p:cNvPr id="10" name="TextBox 9"/>
          <p:cNvSpPr txBox="1"/>
          <p:nvPr/>
        </p:nvSpPr>
        <p:spPr>
          <a:xfrm>
            <a:off x="548640" y="4480560"/>
            <a:ext cx="10972800" cy="2194560"/>
          </a:xfrm>
          <a:prstGeom prst="rect">
            <a:avLst/>
          </a:prstGeom>
          <a:noFill/>
        </p:spPr>
        <p:txBody>
          <a:bodyPr wrap="square">
            <a:spAutoFit/>
          </a:bodyPr>
          <a:lstStyle/>
          <a:p>
            <a:pPr>
              <a:spcAft>
                <a:spcPts val="800"/>
              </a:spcAft>
            </a:pPr>
            <a:r>
              <a:rPr sz="1900" b="1">
                <a:solidFill>
                  <a:srgbClr val="F58B00"/>
                </a:solidFill>
                <a:latin typeface="Calibri"/>
              </a:rPr>
              <a:t>● Query typed: 'athletic sneakers' or 'jogging footwear' — no exact word match, but same intent</a:t>
            </a:r>
          </a:p>
          <a:p>
            <a:pPr>
              <a:spcAft>
                <a:spcPts val="800"/>
              </a:spcAft>
            </a:pPr>
            <a:r>
              <a:rPr sz="1900" b="1">
                <a:solidFill>
                  <a:srgbClr val="D93025"/>
                </a:solidFill>
                <a:latin typeface="Calibri"/>
              </a:rPr>
              <a:t>● Widest reach, lowest control — highest risk of irrelevant clicks</a:t>
            </a:r>
          </a:p>
          <a:p>
            <a:pPr>
              <a:spcAft>
                <a:spcPts val="800"/>
              </a:spcAft>
            </a:pPr>
            <a:r>
              <a:rPr sz="1900" b="1">
                <a:solidFill>
                  <a:srgbClr val="0F9D58"/>
                </a:solidFill>
                <a:latin typeface="Calibri"/>
              </a:rPr>
              <a:t>● Best used with Smart Bidding, which uses signals to keep matches relevant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2 of 11</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F58B00"/>
                </a:solidFill>
                <a:latin typeface="Calibri"/>
              </a:rPr>
              <a:t>Keyword — Phrase Match</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914400"/>
          </a:xfrm>
          <a:prstGeom prst="roundRect">
            <a:avLst/>
          </a:prstGeom>
          <a:solidFill>
            <a:srgbClr val="F58B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Your ad shows for searches that include the meaning of your keyword phrase, keeping word order intact, plus close variants.</a:t>
            </a:r>
          </a:p>
        </p:txBody>
      </p:sp>
      <p:sp>
        <p:nvSpPr>
          <p:cNvPr id="6" name="TextBox 5"/>
          <p:cNvSpPr txBox="1"/>
          <p:nvPr/>
        </p:nvSpPr>
        <p:spPr>
          <a:xfrm>
            <a:off x="548640" y="2606040"/>
            <a:ext cx="2926080" cy="365760"/>
          </a:xfrm>
          <a:prstGeom prst="rect">
            <a:avLst/>
          </a:prstGeom>
          <a:noFill/>
        </p:spPr>
        <p:txBody>
          <a:bodyPr wrap="square">
            <a:spAutoFit/>
          </a:bodyPr>
          <a:lstStyle/>
          <a:p>
            <a:pPr algn="l"/>
            <a:r>
              <a:rPr sz="1600" b="1" i="0">
                <a:solidFill>
                  <a:srgbClr val="757575"/>
                </a:solidFill>
                <a:latin typeface="Calibri"/>
              </a:rPr>
              <a:t>SYNTAX:</a:t>
            </a:r>
          </a:p>
        </p:txBody>
      </p:sp>
      <p:sp>
        <p:nvSpPr>
          <p:cNvPr id="7" name="Rectangle 6"/>
          <p:cNvSpPr/>
          <p:nvPr/>
        </p:nvSpPr>
        <p:spPr>
          <a:xfrm>
            <a:off x="548640" y="2971800"/>
            <a:ext cx="2926080" cy="640080"/>
          </a:xfrm>
          <a:prstGeom prst="rect">
            <a:avLst/>
          </a:prstGeom>
          <a:solidFill>
            <a:srgbClr val="FFF3E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58B00"/>
                </a:solidFill>
                <a:latin typeface="Calibri"/>
              </a:rPr>
              <a:t>"running shoes"</a:t>
            </a:r>
          </a:p>
        </p:txBody>
      </p:sp>
      <p:sp>
        <p:nvSpPr>
          <p:cNvPr id="8" name="TextBox 7"/>
          <p:cNvSpPr txBox="1"/>
          <p:nvPr/>
        </p:nvSpPr>
        <p:spPr>
          <a:xfrm>
            <a:off x="3840480" y="2606040"/>
            <a:ext cx="7315200" cy="365760"/>
          </a:xfrm>
          <a:prstGeom prst="rect">
            <a:avLst/>
          </a:prstGeom>
          <a:noFill/>
        </p:spPr>
        <p:txBody>
          <a:bodyPr wrap="square">
            <a:spAutoFit/>
          </a:bodyPr>
          <a:lstStyle/>
          <a:p>
            <a:pPr algn="l"/>
            <a:r>
              <a:rPr sz="1600" b="1" i="0">
                <a:solidFill>
                  <a:srgbClr val="757575"/>
                </a:solidFill>
                <a:latin typeface="Calibri"/>
              </a:rPr>
              <a:t>MOCK SEARCH RESULT (SERP):</a:t>
            </a:r>
          </a:p>
        </p:txBody>
      </p:sp>
      <p:sp>
        <p:nvSpPr>
          <p:cNvPr id="9" name="Rectangle 8"/>
          <p:cNvSpPr/>
          <p:nvPr/>
        </p:nvSpPr>
        <p:spPr>
          <a:xfrm>
            <a:off x="3840480" y="2971800"/>
            <a:ext cx="7772400" cy="1188720"/>
          </a:xfrm>
          <a:prstGeom prst="rect">
            <a:avLst/>
          </a:prstGeom>
          <a:solidFill>
            <a:srgbClr val="FFFFFF"/>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a:solidFill>
                  <a:srgbClr val="0F9D58"/>
                </a:solidFill>
              </a:rPr>
              <a:t>Sponsored </a:t>
            </a:r>
            <a:r>
              <a:rPr sz="1200">
                <a:solidFill>
                  <a:srgbClr val="757575"/>
                </a:solidFill>
              </a:rPr>
              <a:t>  bestrunningshoes.com</a:t>
            </a:r>
          </a:p>
          <a:p>
            <a:r>
              <a:rPr sz="1600" b="1">
                <a:solidFill>
                  <a:srgbClr val="1A73E8"/>
                </a:solidFill>
              </a:rPr>
              <a:t>Buy Running Shoes Online - Running Shoes Near Me | Free Returns</a:t>
            </a:r>
          </a:p>
        </p:txBody>
      </p:sp>
      <p:sp>
        <p:nvSpPr>
          <p:cNvPr id="10" name="TextBox 9"/>
          <p:cNvSpPr txBox="1"/>
          <p:nvPr/>
        </p:nvSpPr>
        <p:spPr>
          <a:xfrm>
            <a:off x="548640" y="4480560"/>
            <a:ext cx="10972800" cy="2194560"/>
          </a:xfrm>
          <a:prstGeom prst="rect">
            <a:avLst/>
          </a:prstGeom>
          <a:noFill/>
        </p:spPr>
        <p:txBody>
          <a:bodyPr wrap="square">
            <a:spAutoFit/>
          </a:bodyPr>
          <a:lstStyle/>
          <a:p>
            <a:pPr>
              <a:spcAft>
                <a:spcPts val="800"/>
              </a:spcAft>
            </a:pPr>
            <a:r>
              <a:rPr sz="1900" b="1">
                <a:solidFill>
                  <a:srgbClr val="0F9D58"/>
                </a:solidFill>
                <a:latin typeface="Calibri"/>
              </a:rPr>
              <a:t>● Query typed: 'buy running shoes online' or 'running shoes near me' — the phrase's meaning is preserved</a:t>
            </a:r>
          </a:p>
          <a:p>
            <a:pPr>
              <a:spcAft>
                <a:spcPts val="800"/>
              </a:spcAft>
            </a:pPr>
            <a:r>
              <a:rPr sz="1900" b="1">
                <a:solidFill>
                  <a:srgbClr val="D93025"/>
                </a:solidFill>
                <a:latin typeface="Calibri"/>
              </a:rPr>
              <a:t>● Won't show for unrelated terms where the meaning changes</a:t>
            </a:r>
          </a:p>
          <a:p>
            <a:pPr>
              <a:spcAft>
                <a:spcPts val="800"/>
              </a:spcAft>
            </a:pPr>
            <a:r>
              <a:rPr sz="1900" b="1">
                <a:solidFill>
                  <a:srgbClr val="9C27B0"/>
                </a:solidFill>
                <a:latin typeface="Calibri"/>
              </a:rPr>
              <a:t>● The balanced 'sweet spot' — moderate reach with moderate control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3 of 11</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0F9D58"/>
                </a:solidFill>
                <a:latin typeface="Calibri"/>
              </a:rPr>
              <a:t>Keyword — Exact Match</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914400"/>
          </a:xfrm>
          <a:prstGeom prst="roundRect">
            <a:avLst/>
          </a:prstGeom>
          <a:solidFill>
            <a:srgbClr val="0F9D5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The tightest match type. Your ad shows only for searches with the same meaning or intent as your exact keyword.</a:t>
            </a:r>
          </a:p>
        </p:txBody>
      </p:sp>
      <p:sp>
        <p:nvSpPr>
          <p:cNvPr id="6" name="TextBox 5"/>
          <p:cNvSpPr txBox="1"/>
          <p:nvPr/>
        </p:nvSpPr>
        <p:spPr>
          <a:xfrm>
            <a:off x="548640" y="2606040"/>
            <a:ext cx="2926080" cy="365760"/>
          </a:xfrm>
          <a:prstGeom prst="rect">
            <a:avLst/>
          </a:prstGeom>
          <a:noFill/>
        </p:spPr>
        <p:txBody>
          <a:bodyPr wrap="square">
            <a:spAutoFit/>
          </a:bodyPr>
          <a:lstStyle/>
          <a:p>
            <a:pPr algn="l"/>
            <a:r>
              <a:rPr sz="1600" b="1" i="0">
                <a:solidFill>
                  <a:srgbClr val="757575"/>
                </a:solidFill>
                <a:latin typeface="Calibri"/>
              </a:rPr>
              <a:t>SYNTAX:</a:t>
            </a:r>
          </a:p>
        </p:txBody>
      </p:sp>
      <p:sp>
        <p:nvSpPr>
          <p:cNvPr id="7" name="Rectangle 6"/>
          <p:cNvSpPr/>
          <p:nvPr/>
        </p:nvSpPr>
        <p:spPr>
          <a:xfrm>
            <a:off x="548640" y="2971800"/>
            <a:ext cx="2926080" cy="640080"/>
          </a:xfrm>
          <a:prstGeom prst="rect">
            <a:avLst/>
          </a:prstGeom>
          <a:solidFill>
            <a:srgbClr val="E8F5E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F9D58"/>
                </a:solidFill>
                <a:latin typeface="Calibri"/>
              </a:rPr>
              <a:t>[running shoes]</a:t>
            </a:r>
          </a:p>
        </p:txBody>
      </p:sp>
      <p:sp>
        <p:nvSpPr>
          <p:cNvPr id="8" name="TextBox 7"/>
          <p:cNvSpPr txBox="1"/>
          <p:nvPr/>
        </p:nvSpPr>
        <p:spPr>
          <a:xfrm>
            <a:off x="3840480" y="2606040"/>
            <a:ext cx="7315200" cy="365760"/>
          </a:xfrm>
          <a:prstGeom prst="rect">
            <a:avLst/>
          </a:prstGeom>
          <a:noFill/>
        </p:spPr>
        <p:txBody>
          <a:bodyPr wrap="square">
            <a:spAutoFit/>
          </a:bodyPr>
          <a:lstStyle/>
          <a:p>
            <a:pPr algn="l"/>
            <a:r>
              <a:rPr sz="1600" b="1" i="0">
                <a:solidFill>
                  <a:srgbClr val="757575"/>
                </a:solidFill>
                <a:latin typeface="Calibri"/>
              </a:rPr>
              <a:t>MOCK SEARCH RESULT (SERP):</a:t>
            </a:r>
          </a:p>
        </p:txBody>
      </p:sp>
      <p:sp>
        <p:nvSpPr>
          <p:cNvPr id="9" name="Rectangle 8"/>
          <p:cNvSpPr/>
          <p:nvPr/>
        </p:nvSpPr>
        <p:spPr>
          <a:xfrm>
            <a:off x="3840480" y="2971800"/>
            <a:ext cx="7772400" cy="1188720"/>
          </a:xfrm>
          <a:prstGeom prst="rect">
            <a:avLst/>
          </a:prstGeom>
          <a:solidFill>
            <a:srgbClr val="FFFFFF"/>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1200" b="1">
                <a:solidFill>
                  <a:srgbClr val="0F9D58"/>
                </a:solidFill>
              </a:rPr>
              <a:t>Sponsored </a:t>
            </a:r>
            <a:r>
              <a:rPr sz="1200">
                <a:solidFill>
                  <a:srgbClr val="757575"/>
                </a:solidFill>
              </a:rPr>
              <a:t>  premiumrunningshoes.com</a:t>
            </a:r>
          </a:p>
          <a:p>
            <a:r>
              <a:rPr sz="1600" b="1">
                <a:solidFill>
                  <a:srgbClr val="1A73E8"/>
                </a:solidFill>
              </a:rPr>
              <a:t>Running Shoes - Shop the Official Collection Today</a:t>
            </a:r>
          </a:p>
        </p:txBody>
      </p:sp>
      <p:sp>
        <p:nvSpPr>
          <p:cNvPr id="10" name="TextBox 9"/>
          <p:cNvSpPr txBox="1"/>
          <p:nvPr/>
        </p:nvSpPr>
        <p:spPr>
          <a:xfrm>
            <a:off x="548640" y="4480560"/>
            <a:ext cx="10972800" cy="2194560"/>
          </a:xfrm>
          <a:prstGeom prst="rect">
            <a:avLst/>
          </a:prstGeom>
          <a:noFill/>
        </p:spPr>
        <p:txBody>
          <a:bodyPr wrap="square">
            <a:spAutoFit/>
          </a:bodyPr>
          <a:lstStyle/>
          <a:p>
            <a:pPr>
              <a:spcAft>
                <a:spcPts val="800"/>
              </a:spcAft>
            </a:pPr>
            <a:r>
              <a:rPr sz="1900" b="1">
                <a:solidFill>
                  <a:srgbClr val="1A73E8"/>
                </a:solidFill>
                <a:latin typeface="Calibri"/>
              </a:rPr>
              <a:t>● Query typed: 'running shoes' or 'running shoe' (close variants only)</a:t>
            </a:r>
          </a:p>
          <a:p>
            <a:pPr>
              <a:spcAft>
                <a:spcPts val="800"/>
              </a:spcAft>
            </a:pPr>
            <a:r>
              <a:rPr sz="1900" b="1">
                <a:solidFill>
                  <a:srgbClr val="D93025"/>
                </a:solidFill>
                <a:latin typeface="Calibri"/>
              </a:rPr>
              <a:t>● Highest relevance, highest control — but the smallest search volume</a:t>
            </a:r>
          </a:p>
          <a:p>
            <a:pPr>
              <a:spcAft>
                <a:spcPts val="800"/>
              </a:spcAft>
            </a:pPr>
            <a:r>
              <a:rPr sz="1900" b="1">
                <a:solidFill>
                  <a:srgbClr val="F58B00"/>
                </a:solidFill>
                <a:latin typeface="Calibri"/>
              </a:rPr>
              <a:t>● Ideal for high-intent, high-value or branded keywords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4 of 11</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D93025"/>
                </a:solidFill>
                <a:latin typeface="Calibri"/>
              </a:rPr>
              <a:t>Negative Keywords</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914400"/>
          </a:xfrm>
          <a:prstGeom prst="roundRect">
            <a:avLst/>
          </a:prstGeom>
          <a:solidFill>
            <a:srgbClr val="D9302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Words or phrases you exclude so your ad does NOT show for irrelevant searches — protecting your budget.</a:t>
            </a:r>
          </a:p>
        </p:txBody>
      </p:sp>
      <p:sp>
        <p:nvSpPr>
          <p:cNvPr id="6" name="Rectangle 5"/>
          <p:cNvSpPr/>
          <p:nvPr/>
        </p:nvSpPr>
        <p:spPr>
          <a:xfrm>
            <a:off x="548640" y="2606040"/>
            <a:ext cx="5212080" cy="1463040"/>
          </a:xfrm>
          <a:prstGeom prst="rect">
            <a:avLst/>
          </a:prstGeom>
          <a:solidFill>
            <a:srgbClr val="FFEBE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D93025"/>
                </a:solidFill>
                <a:latin typeface="Calibri"/>
              </a:rPr>
              <a:t>KEYWORD:
running shoes
NEGATIVE: 'free'</a:t>
            </a:r>
          </a:p>
        </p:txBody>
      </p:sp>
      <p:sp>
        <p:nvSpPr>
          <p:cNvPr id="7" name="Rectangle 6"/>
          <p:cNvSpPr/>
          <p:nvPr/>
        </p:nvSpPr>
        <p:spPr>
          <a:xfrm>
            <a:off x="6035040" y="2606040"/>
            <a:ext cx="5577840" cy="1463040"/>
          </a:xfrm>
          <a:prstGeom prst="rect">
            <a:avLst/>
          </a:prstGeom>
          <a:solidFill>
            <a:srgbClr val="FFFFFF"/>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202020"/>
                </a:solidFill>
                <a:latin typeface="Calibri"/>
              </a:rPr>
              <a:t>BLOCKS searches like:
"free running shoes"
"running shoes for free"</a:t>
            </a:r>
          </a:p>
        </p:txBody>
      </p:sp>
      <p:sp>
        <p:nvSpPr>
          <p:cNvPr id="8" name="TextBox 7"/>
          <p:cNvSpPr txBox="1"/>
          <p:nvPr/>
        </p:nvSpPr>
        <p:spPr>
          <a:xfrm>
            <a:off x="548640" y="4389120"/>
            <a:ext cx="10972800" cy="2286000"/>
          </a:xfrm>
          <a:prstGeom prst="rect">
            <a:avLst/>
          </a:prstGeom>
          <a:noFill/>
        </p:spPr>
        <p:txBody>
          <a:bodyPr wrap="square">
            <a:spAutoFit/>
          </a:bodyPr>
          <a:lstStyle/>
          <a:p>
            <a:pPr>
              <a:spcAft>
                <a:spcPts val="800"/>
              </a:spcAft>
            </a:pPr>
            <a:r>
              <a:rPr sz="1900" b="1">
                <a:solidFill>
                  <a:srgbClr val="1A73E8"/>
                </a:solidFill>
                <a:latin typeface="Calibri"/>
              </a:rPr>
              <a:t>● Build a 'catch-all' negative list at the account level for consistently irrelevant terms (e.g., 'jobs', 'free', 'reviews')</a:t>
            </a:r>
          </a:p>
          <a:p>
            <a:pPr>
              <a:spcAft>
                <a:spcPts val="800"/>
              </a:spcAft>
            </a:pPr>
            <a:r>
              <a:rPr sz="1900" b="1">
                <a:solidFill>
                  <a:srgbClr val="9C27B0"/>
                </a:solidFill>
                <a:latin typeface="Calibri"/>
              </a:rPr>
              <a:t>● Build a branded negative list to prevent overlap between brand &amp; non-brand campaigns</a:t>
            </a:r>
          </a:p>
          <a:p>
            <a:pPr>
              <a:spcAft>
                <a:spcPts val="800"/>
              </a:spcAft>
            </a:pPr>
            <a:r>
              <a:rPr sz="1900" b="1">
                <a:solidFill>
                  <a:srgbClr val="0F9D58"/>
                </a:solidFill>
                <a:latin typeface="Calibri"/>
              </a:rPr>
              <a:t>● Mine new negatives weekly from the Search Terms Report — search behavior constantly evolves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5 of 11</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9C27B0"/>
                </a:solidFill>
                <a:latin typeface="Calibri"/>
              </a:rPr>
              <a:t>Quality Score</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914400"/>
          </a:xfrm>
          <a:prstGeom prst="roundRect">
            <a:avLst/>
          </a:prstGeom>
          <a:solidFill>
            <a:srgbClr val="9C27B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A 1-10 diagnostic score estimating the quality of your ads, keywords &amp; landing pages, versus other advertisers.</a:t>
            </a:r>
          </a:p>
        </p:txBody>
      </p:sp>
      <p:sp>
        <p:nvSpPr>
          <p:cNvPr id="6" name="TextBox 5"/>
          <p:cNvSpPr txBox="1"/>
          <p:nvPr/>
        </p:nvSpPr>
        <p:spPr>
          <a:xfrm>
            <a:off x="548640" y="2606040"/>
            <a:ext cx="10515600" cy="365760"/>
          </a:xfrm>
          <a:prstGeom prst="rect">
            <a:avLst/>
          </a:prstGeom>
          <a:noFill/>
        </p:spPr>
        <p:txBody>
          <a:bodyPr wrap="square">
            <a:spAutoFit/>
          </a:bodyPr>
          <a:lstStyle/>
          <a:p>
            <a:pPr algn="l"/>
            <a:r>
              <a:rPr sz="1600" b="1" i="0">
                <a:solidFill>
                  <a:srgbClr val="757575"/>
                </a:solidFill>
                <a:latin typeface="Calibri"/>
              </a:rPr>
              <a:t>THE 3 COMPONENTS OF QUALITY SCORE:</a:t>
            </a:r>
          </a:p>
        </p:txBody>
      </p:sp>
      <p:sp>
        <p:nvSpPr>
          <p:cNvPr id="7" name="Rounded Rectangle 6"/>
          <p:cNvSpPr/>
          <p:nvPr/>
        </p:nvSpPr>
        <p:spPr>
          <a:xfrm>
            <a:off x="548640" y="3017520"/>
            <a:ext cx="3566160" cy="118872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Expected
Click-Through Rate
(CTR)</a:t>
            </a:r>
          </a:p>
        </p:txBody>
      </p:sp>
      <p:sp>
        <p:nvSpPr>
          <p:cNvPr id="8" name="Rounded Rectangle 7"/>
          <p:cNvSpPr/>
          <p:nvPr/>
        </p:nvSpPr>
        <p:spPr>
          <a:xfrm>
            <a:off x="4297680" y="3017520"/>
            <a:ext cx="3566160" cy="1188720"/>
          </a:xfrm>
          <a:prstGeom prst="roundRect">
            <a:avLst/>
          </a:prstGeom>
          <a:solidFill>
            <a:srgbClr val="F58B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Ad Relevance
(does ad match
search intent?)</a:t>
            </a:r>
          </a:p>
        </p:txBody>
      </p:sp>
      <p:sp>
        <p:nvSpPr>
          <p:cNvPr id="9" name="Rounded Rectangle 8"/>
          <p:cNvSpPr/>
          <p:nvPr/>
        </p:nvSpPr>
        <p:spPr>
          <a:xfrm>
            <a:off x="8046720" y="3017520"/>
            <a:ext cx="3566160" cy="1188720"/>
          </a:xfrm>
          <a:prstGeom prst="roundRect">
            <a:avLst/>
          </a:prstGeom>
          <a:solidFill>
            <a:srgbClr val="0F9D5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Landing Page
Experience
(speed, relevance)</a:t>
            </a:r>
          </a:p>
        </p:txBody>
      </p:sp>
      <p:sp>
        <p:nvSpPr>
          <p:cNvPr id="10" name="TextBox 9"/>
          <p:cNvSpPr txBox="1"/>
          <p:nvPr/>
        </p:nvSpPr>
        <p:spPr>
          <a:xfrm>
            <a:off x="548640" y="4480560"/>
            <a:ext cx="10972800" cy="2103120"/>
          </a:xfrm>
          <a:prstGeom prst="rect">
            <a:avLst/>
          </a:prstGeom>
          <a:noFill/>
        </p:spPr>
        <p:txBody>
          <a:bodyPr wrap="square">
            <a:spAutoFit/>
          </a:bodyPr>
          <a:lstStyle/>
          <a:p>
            <a:pPr>
              <a:spcAft>
                <a:spcPts val="800"/>
              </a:spcAft>
            </a:pPr>
            <a:r>
              <a:rPr sz="1900" b="1">
                <a:solidFill>
                  <a:srgbClr val="D93025"/>
                </a:solidFill>
                <a:latin typeface="Calibri"/>
              </a:rPr>
              <a:t>● Each component is rated: Above Average / Average / Below Average</a:t>
            </a:r>
          </a:p>
          <a:p>
            <a:pPr>
              <a:spcAft>
                <a:spcPts val="800"/>
              </a:spcAft>
            </a:pPr>
            <a:r>
              <a:rPr sz="1900" b="1">
                <a:solidFill>
                  <a:srgbClr val="0F9D58"/>
                </a:solidFill>
                <a:latin typeface="Calibri"/>
              </a:rPr>
              <a:t>● Higher Quality Score → lower CPC and better ad position</a:t>
            </a:r>
          </a:p>
          <a:p>
            <a:pPr>
              <a:spcAft>
                <a:spcPts val="800"/>
              </a:spcAft>
            </a:pPr>
            <a:r>
              <a:rPr sz="1900" b="1">
                <a:solidFill>
                  <a:srgbClr val="757575"/>
                </a:solidFill>
                <a:latin typeface="Calibri"/>
              </a:rPr>
              <a:t>● Found in the 'Status' column of the Keywords view in Google Ads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6 of 11</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009688"/>
                </a:solidFill>
                <a:latin typeface="Calibri"/>
              </a:rPr>
              <a:t>Ad Rank</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914400"/>
          </a:xfrm>
          <a:prstGeom prst="roundRect">
            <a:avLst/>
          </a:prstGeom>
          <a:solidFill>
            <a:srgbClr val="0096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The calculated value that determines your ad's position — or whether it shows at all — in each auction.</a:t>
            </a:r>
          </a:p>
        </p:txBody>
      </p:sp>
      <p:sp>
        <p:nvSpPr>
          <p:cNvPr id="6" name="TextBox 5"/>
          <p:cNvSpPr txBox="1"/>
          <p:nvPr/>
        </p:nvSpPr>
        <p:spPr>
          <a:xfrm>
            <a:off x="548640" y="2606040"/>
            <a:ext cx="10515600" cy="365760"/>
          </a:xfrm>
          <a:prstGeom prst="rect">
            <a:avLst/>
          </a:prstGeom>
          <a:noFill/>
        </p:spPr>
        <p:txBody>
          <a:bodyPr wrap="square">
            <a:spAutoFit/>
          </a:bodyPr>
          <a:lstStyle/>
          <a:p>
            <a:pPr algn="l"/>
            <a:r>
              <a:rPr sz="1600" b="1" i="0">
                <a:solidFill>
                  <a:srgbClr val="757575"/>
                </a:solidFill>
                <a:latin typeface="Calibri"/>
              </a:rPr>
              <a:t>AD RANK IS CALCULATED FROM:</a:t>
            </a:r>
          </a:p>
        </p:txBody>
      </p:sp>
      <p:sp>
        <p:nvSpPr>
          <p:cNvPr id="7" name="Rounded Rectangle 6"/>
          <p:cNvSpPr/>
          <p:nvPr/>
        </p:nvSpPr>
        <p:spPr>
          <a:xfrm>
            <a:off x="548640" y="3017520"/>
            <a:ext cx="2011680" cy="137160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Bid
Amount</a:t>
            </a:r>
          </a:p>
        </p:txBody>
      </p:sp>
      <p:sp>
        <p:nvSpPr>
          <p:cNvPr id="8" name="TextBox 7"/>
          <p:cNvSpPr txBox="1"/>
          <p:nvPr/>
        </p:nvSpPr>
        <p:spPr>
          <a:xfrm>
            <a:off x="2560320" y="3520440"/>
            <a:ext cx="137160" cy="457200"/>
          </a:xfrm>
          <a:prstGeom prst="rect">
            <a:avLst/>
          </a:prstGeom>
          <a:noFill/>
        </p:spPr>
        <p:txBody>
          <a:bodyPr wrap="square">
            <a:spAutoFit/>
          </a:bodyPr>
          <a:lstStyle/>
          <a:p>
            <a:pPr algn="ctr"/>
            <a:r>
              <a:rPr sz="2200" b="1" i="0">
                <a:solidFill>
                  <a:srgbClr val="202020"/>
                </a:solidFill>
                <a:latin typeface="Calibri"/>
              </a:rPr>
              <a:t>+</a:t>
            </a:r>
          </a:p>
        </p:txBody>
      </p:sp>
      <p:sp>
        <p:nvSpPr>
          <p:cNvPr id="9" name="Rounded Rectangle 8"/>
          <p:cNvSpPr/>
          <p:nvPr/>
        </p:nvSpPr>
        <p:spPr>
          <a:xfrm>
            <a:off x="2697480" y="3017520"/>
            <a:ext cx="2011680" cy="1371600"/>
          </a:xfrm>
          <a:prstGeom prst="roundRect">
            <a:avLst/>
          </a:prstGeom>
          <a:solidFill>
            <a:srgbClr val="F58B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Quality Score
(CTR, relevance,
landing page)</a:t>
            </a:r>
          </a:p>
        </p:txBody>
      </p:sp>
      <p:sp>
        <p:nvSpPr>
          <p:cNvPr id="10" name="TextBox 9"/>
          <p:cNvSpPr txBox="1"/>
          <p:nvPr/>
        </p:nvSpPr>
        <p:spPr>
          <a:xfrm>
            <a:off x="4709160" y="3520440"/>
            <a:ext cx="137160" cy="457200"/>
          </a:xfrm>
          <a:prstGeom prst="rect">
            <a:avLst/>
          </a:prstGeom>
          <a:noFill/>
        </p:spPr>
        <p:txBody>
          <a:bodyPr wrap="square">
            <a:spAutoFit/>
          </a:bodyPr>
          <a:lstStyle/>
          <a:p>
            <a:pPr algn="ctr"/>
            <a:r>
              <a:rPr sz="2200" b="1" i="0">
                <a:solidFill>
                  <a:srgbClr val="202020"/>
                </a:solidFill>
                <a:latin typeface="Calibri"/>
              </a:rPr>
              <a:t>+</a:t>
            </a:r>
          </a:p>
        </p:txBody>
      </p:sp>
      <p:sp>
        <p:nvSpPr>
          <p:cNvPr id="11" name="Rounded Rectangle 10"/>
          <p:cNvSpPr/>
          <p:nvPr/>
        </p:nvSpPr>
        <p:spPr>
          <a:xfrm>
            <a:off x="4846320" y="3017520"/>
            <a:ext cx="2011680" cy="1371600"/>
          </a:xfrm>
          <a:prstGeom prst="roundRect">
            <a:avLst/>
          </a:prstGeom>
          <a:solidFill>
            <a:srgbClr val="0F9D5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Ad Rank
Thresholds</a:t>
            </a:r>
          </a:p>
        </p:txBody>
      </p:sp>
      <p:sp>
        <p:nvSpPr>
          <p:cNvPr id="12" name="TextBox 11"/>
          <p:cNvSpPr txBox="1"/>
          <p:nvPr/>
        </p:nvSpPr>
        <p:spPr>
          <a:xfrm>
            <a:off x="6858000" y="3520440"/>
            <a:ext cx="137160" cy="457200"/>
          </a:xfrm>
          <a:prstGeom prst="rect">
            <a:avLst/>
          </a:prstGeom>
          <a:noFill/>
        </p:spPr>
        <p:txBody>
          <a:bodyPr wrap="square">
            <a:spAutoFit/>
          </a:bodyPr>
          <a:lstStyle/>
          <a:p>
            <a:pPr algn="ctr"/>
            <a:r>
              <a:rPr sz="2200" b="1" i="0">
                <a:solidFill>
                  <a:srgbClr val="202020"/>
                </a:solidFill>
                <a:latin typeface="Calibri"/>
              </a:rPr>
              <a:t>+</a:t>
            </a:r>
          </a:p>
        </p:txBody>
      </p:sp>
      <p:sp>
        <p:nvSpPr>
          <p:cNvPr id="13" name="Rounded Rectangle 12"/>
          <p:cNvSpPr/>
          <p:nvPr/>
        </p:nvSpPr>
        <p:spPr>
          <a:xfrm>
            <a:off x="6995160" y="3017520"/>
            <a:ext cx="2011680" cy="1371600"/>
          </a:xfrm>
          <a:prstGeom prst="roundRect">
            <a:avLst/>
          </a:prstGeom>
          <a:solidFill>
            <a:srgbClr val="D9302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Competitiveness
of Auction</a:t>
            </a:r>
          </a:p>
        </p:txBody>
      </p:sp>
      <p:sp>
        <p:nvSpPr>
          <p:cNvPr id="14" name="TextBox 13"/>
          <p:cNvSpPr txBox="1"/>
          <p:nvPr/>
        </p:nvSpPr>
        <p:spPr>
          <a:xfrm>
            <a:off x="9006840" y="3520440"/>
            <a:ext cx="137160" cy="457200"/>
          </a:xfrm>
          <a:prstGeom prst="rect">
            <a:avLst/>
          </a:prstGeom>
          <a:noFill/>
        </p:spPr>
        <p:txBody>
          <a:bodyPr wrap="square">
            <a:spAutoFit/>
          </a:bodyPr>
          <a:lstStyle/>
          <a:p>
            <a:pPr algn="ctr"/>
            <a:r>
              <a:rPr sz="2200" b="1" i="0">
                <a:solidFill>
                  <a:srgbClr val="202020"/>
                </a:solidFill>
                <a:latin typeface="Calibri"/>
              </a:rPr>
              <a:t>+</a:t>
            </a:r>
          </a:p>
        </p:txBody>
      </p:sp>
      <p:sp>
        <p:nvSpPr>
          <p:cNvPr id="15" name="Rounded Rectangle 14"/>
          <p:cNvSpPr/>
          <p:nvPr/>
        </p:nvSpPr>
        <p:spPr>
          <a:xfrm>
            <a:off x="9144000" y="3017520"/>
            <a:ext cx="2011680" cy="1371600"/>
          </a:xfrm>
          <a:prstGeom prst="roundRect">
            <a:avLst/>
          </a:prstGeom>
          <a:solidFill>
            <a:srgbClr val="9C27B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Calibri"/>
              </a:rPr>
              <a:t>Context of the
Search</a:t>
            </a:r>
          </a:p>
        </p:txBody>
      </p:sp>
      <p:sp>
        <p:nvSpPr>
          <p:cNvPr id="16" name="TextBox 15"/>
          <p:cNvSpPr txBox="1"/>
          <p:nvPr/>
        </p:nvSpPr>
        <p:spPr>
          <a:xfrm>
            <a:off x="548640" y="4663440"/>
            <a:ext cx="10972800" cy="1463040"/>
          </a:xfrm>
          <a:prstGeom prst="rect">
            <a:avLst/>
          </a:prstGeom>
          <a:noFill/>
        </p:spPr>
        <p:txBody>
          <a:bodyPr wrap="square">
            <a:spAutoFit/>
          </a:bodyPr>
          <a:lstStyle/>
          <a:p>
            <a:pPr>
              <a:spcAft>
                <a:spcPts val="800"/>
              </a:spcAft>
            </a:pPr>
            <a:r>
              <a:rPr sz="2000" b="1">
                <a:solidFill>
                  <a:srgbClr val="0F9D58"/>
                </a:solidFill>
                <a:latin typeface="Calibri"/>
              </a:rPr>
              <a:t>● Higher Ad Rank = better position on the page (or shows at all)</a:t>
            </a:r>
          </a:p>
          <a:p>
            <a:pPr>
              <a:spcAft>
                <a:spcPts val="800"/>
              </a:spcAft>
            </a:pPr>
            <a:r>
              <a:rPr sz="2000" b="1">
                <a:solidFill>
                  <a:srgbClr val="D93025"/>
                </a:solidFill>
                <a:latin typeface="Calibri"/>
              </a:rPr>
              <a:t>● A well-optimized $2 bid can beat a poorly-optimized $5 bid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7 of 11</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1A73E8"/>
                </a:solidFill>
                <a:latin typeface="Calibri"/>
              </a:rPr>
              <a:t>Click-Through Rate (CTR)</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91440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The percentage of people who saw your ad (impressions) and clicked on it.</a:t>
            </a:r>
          </a:p>
        </p:txBody>
      </p:sp>
      <p:sp>
        <p:nvSpPr>
          <p:cNvPr id="6" name="Rectangle 5"/>
          <p:cNvSpPr/>
          <p:nvPr/>
        </p:nvSpPr>
        <p:spPr>
          <a:xfrm>
            <a:off x="1371600" y="2651760"/>
            <a:ext cx="4206240" cy="1463040"/>
          </a:xfrm>
          <a:prstGeom prst="rect">
            <a:avLst/>
          </a:prstGeom>
          <a:solidFill>
            <a:srgbClr val="E3F2F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1A73E8"/>
                </a:solidFill>
                <a:latin typeface="Calibri"/>
              </a:rPr>
              <a:t>CTR = Clicks ÷ Impressions</a:t>
            </a:r>
          </a:p>
        </p:txBody>
      </p:sp>
      <p:sp>
        <p:nvSpPr>
          <p:cNvPr id="7" name="Rectangle 6"/>
          <p:cNvSpPr/>
          <p:nvPr/>
        </p:nvSpPr>
        <p:spPr>
          <a:xfrm>
            <a:off x="6400800" y="2651760"/>
            <a:ext cx="4480560" cy="1463040"/>
          </a:xfrm>
          <a:prstGeom prst="rect">
            <a:avLst/>
          </a:prstGeom>
          <a:solidFill>
            <a:srgbClr val="FFFFFF"/>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202020"/>
                </a:solidFill>
                <a:latin typeface="Calibri"/>
              </a:rPr>
              <a:t>Example:
50 clicks ÷ 1,000 impressions
= 5% CTR</a:t>
            </a:r>
          </a:p>
        </p:txBody>
      </p:sp>
      <p:sp>
        <p:nvSpPr>
          <p:cNvPr id="8" name="TextBox 7"/>
          <p:cNvSpPr txBox="1"/>
          <p:nvPr/>
        </p:nvSpPr>
        <p:spPr>
          <a:xfrm>
            <a:off x="548640" y="4480560"/>
            <a:ext cx="10972800" cy="2194560"/>
          </a:xfrm>
          <a:prstGeom prst="rect">
            <a:avLst/>
          </a:prstGeom>
          <a:noFill/>
        </p:spPr>
        <p:txBody>
          <a:bodyPr wrap="square">
            <a:spAutoFit/>
          </a:bodyPr>
          <a:lstStyle/>
          <a:p>
            <a:pPr>
              <a:spcAft>
                <a:spcPts val="800"/>
              </a:spcAft>
            </a:pPr>
            <a:r>
              <a:rPr sz="1900" b="1">
                <a:solidFill>
                  <a:srgbClr val="0F9D58"/>
                </a:solidFill>
                <a:latin typeface="Calibri"/>
              </a:rPr>
              <a:t>● Search ads typically have higher CTR than Display ads (search = active intent)</a:t>
            </a:r>
          </a:p>
          <a:p>
            <a:pPr>
              <a:spcAft>
                <a:spcPts val="800"/>
              </a:spcAft>
            </a:pPr>
            <a:r>
              <a:rPr sz="1900" b="1">
                <a:solidFill>
                  <a:srgbClr val="F58B00"/>
                </a:solidFill>
                <a:latin typeface="Calibri"/>
              </a:rPr>
              <a:t>● High CTR signals relevance to Google → boosts Quality Score → can lower CPC</a:t>
            </a:r>
          </a:p>
          <a:p>
            <a:pPr>
              <a:spcAft>
                <a:spcPts val="800"/>
              </a:spcAft>
            </a:pPr>
            <a:r>
              <a:rPr sz="1900" b="1">
                <a:solidFill>
                  <a:srgbClr val="D93025"/>
                </a:solidFill>
                <a:latin typeface="Calibri"/>
              </a:rPr>
              <a:t>● Low CTR is a red flag: ad copy may not match what users are searching for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8 of 11</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F58B00"/>
                </a:solidFill>
                <a:latin typeface="Calibri"/>
              </a:rPr>
              <a:t>Conversion Rate</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914400"/>
          </a:xfrm>
          <a:prstGeom prst="roundRect">
            <a:avLst/>
          </a:prstGeom>
          <a:solidFill>
            <a:srgbClr val="F58B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The percentage of clicks on your ad that result in a desired action (purchase, signup, call, etc.).</a:t>
            </a:r>
          </a:p>
        </p:txBody>
      </p:sp>
      <p:sp>
        <p:nvSpPr>
          <p:cNvPr id="6" name="Rectangle 5"/>
          <p:cNvSpPr/>
          <p:nvPr/>
        </p:nvSpPr>
        <p:spPr>
          <a:xfrm>
            <a:off x="1371600" y="2651760"/>
            <a:ext cx="4206240" cy="1463040"/>
          </a:xfrm>
          <a:prstGeom prst="rect">
            <a:avLst/>
          </a:prstGeom>
          <a:solidFill>
            <a:srgbClr val="FFF3E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58B00"/>
                </a:solidFill>
                <a:latin typeface="Calibri"/>
              </a:rPr>
              <a:t>Conv. Rate = Conversions ÷ Clicks</a:t>
            </a:r>
          </a:p>
        </p:txBody>
      </p:sp>
      <p:sp>
        <p:nvSpPr>
          <p:cNvPr id="7" name="Rectangle 6"/>
          <p:cNvSpPr/>
          <p:nvPr/>
        </p:nvSpPr>
        <p:spPr>
          <a:xfrm>
            <a:off x="6400800" y="2651760"/>
            <a:ext cx="4480560" cy="1463040"/>
          </a:xfrm>
          <a:prstGeom prst="rect">
            <a:avLst/>
          </a:prstGeom>
          <a:solidFill>
            <a:srgbClr val="FFFFFF"/>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202020"/>
                </a:solidFill>
                <a:latin typeface="Calibri"/>
              </a:rPr>
              <a:t>Example:
10 purchases ÷ 200 clicks
= 5% Conversion Rate</a:t>
            </a:r>
          </a:p>
        </p:txBody>
      </p:sp>
      <p:sp>
        <p:nvSpPr>
          <p:cNvPr id="8" name="TextBox 7"/>
          <p:cNvSpPr txBox="1"/>
          <p:nvPr/>
        </p:nvSpPr>
        <p:spPr>
          <a:xfrm>
            <a:off x="548640" y="4480560"/>
            <a:ext cx="10972800" cy="2194560"/>
          </a:xfrm>
          <a:prstGeom prst="rect">
            <a:avLst/>
          </a:prstGeom>
          <a:noFill/>
        </p:spPr>
        <p:txBody>
          <a:bodyPr wrap="square">
            <a:spAutoFit/>
          </a:bodyPr>
          <a:lstStyle/>
          <a:p>
            <a:pPr>
              <a:spcAft>
                <a:spcPts val="800"/>
              </a:spcAft>
            </a:pPr>
            <a:r>
              <a:rPr sz="1900" b="1">
                <a:solidFill>
                  <a:srgbClr val="0F9D58"/>
                </a:solidFill>
                <a:latin typeface="Calibri"/>
              </a:rPr>
              <a:t>● Unlike CTR, this measures what happens AFTER the click — on your website/landing page</a:t>
            </a:r>
          </a:p>
          <a:p>
            <a:pPr>
              <a:spcAft>
                <a:spcPts val="800"/>
              </a:spcAft>
            </a:pPr>
            <a:r>
              <a:rPr sz="1900" b="1">
                <a:solidFill>
                  <a:srgbClr val="1A73E8"/>
                </a:solidFill>
                <a:latin typeface="Calibri"/>
              </a:rPr>
              <a:t>● A high conversion rate signals strong ad-to-landing-page relevance</a:t>
            </a:r>
          </a:p>
          <a:p>
            <a:pPr>
              <a:spcAft>
                <a:spcPts val="800"/>
              </a:spcAft>
            </a:pPr>
            <a:r>
              <a:rPr sz="1900" b="1">
                <a:solidFill>
                  <a:srgbClr val="D93025"/>
                </a:solidFill>
                <a:latin typeface="Calibri"/>
              </a:rPr>
              <a:t>● Low conversion rate + high CTR = your ad copy is great, but landing page needs work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9 of 11</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0F9D58"/>
                </a:solidFill>
                <a:latin typeface="Calibri"/>
              </a:rPr>
              <a:t>Ad Assets (Extensions)</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914400"/>
          </a:xfrm>
          <a:prstGeom prst="roundRect">
            <a:avLst/>
          </a:prstGeom>
          <a:solidFill>
            <a:srgbClr val="0F9D5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Extra content added to a search ad — like sitelinks, phone numbers, or forms — to take up more space and add value.</a:t>
            </a:r>
          </a:p>
        </p:txBody>
      </p:sp>
      <p:sp>
        <p:nvSpPr>
          <p:cNvPr id="6" name="TextBox 5"/>
          <p:cNvSpPr txBox="1"/>
          <p:nvPr/>
        </p:nvSpPr>
        <p:spPr>
          <a:xfrm>
            <a:off x="548640" y="2606040"/>
            <a:ext cx="7772400" cy="365760"/>
          </a:xfrm>
          <a:prstGeom prst="rect">
            <a:avLst/>
          </a:prstGeom>
          <a:noFill/>
        </p:spPr>
        <p:txBody>
          <a:bodyPr wrap="square">
            <a:spAutoFit/>
          </a:bodyPr>
          <a:lstStyle/>
          <a:p>
            <a:pPr algn="l"/>
            <a:r>
              <a:rPr sz="1600" b="1" i="0">
                <a:solidFill>
                  <a:srgbClr val="757575"/>
                </a:solidFill>
                <a:latin typeface="Calibri"/>
              </a:rPr>
              <a:t>MOCK SEARCH AD WITH SITELINKS:</a:t>
            </a:r>
          </a:p>
        </p:txBody>
      </p:sp>
      <p:sp>
        <p:nvSpPr>
          <p:cNvPr id="7" name="Rectangle 6"/>
          <p:cNvSpPr/>
          <p:nvPr/>
        </p:nvSpPr>
        <p:spPr>
          <a:xfrm>
            <a:off x="548640" y="2971800"/>
            <a:ext cx="7680960" cy="2377440"/>
          </a:xfrm>
          <a:prstGeom prst="rect">
            <a:avLst/>
          </a:prstGeom>
          <a:solidFill>
            <a:srgbClr val="FFFFFF"/>
          </a:solidFill>
          <a:ln w="19050">
            <a:solidFill>
              <a:srgbClr val="CCCCCC"/>
            </a:solidFill>
          </a:ln>
        </p:spPr>
        <p:style>
          <a:lnRef idx="1">
            <a:schemeClr val="accent1"/>
          </a:lnRef>
          <a:fillRef idx="3">
            <a:schemeClr val="accent1"/>
          </a:fillRef>
          <a:effectRef idx="2">
            <a:schemeClr val="accent1"/>
          </a:effectRef>
          <a:fontRef idx="minor">
            <a:schemeClr val="lt1"/>
          </a:fontRef>
        </p:style>
        <p:txBody>
          <a:bodyPr wrap="square" lIns="228600" tIns="137160" rtlCol="0" anchor="ctr"/>
          <a:lstStyle/>
          <a:p>
            <a:pPr algn="ctr"/>
            <a:r>
              <a:rPr sz="1200" b="1">
                <a:solidFill>
                  <a:srgbClr val="0F9D58"/>
                </a:solidFill>
              </a:rPr>
              <a:t>Sponsored </a:t>
            </a:r>
            <a:r>
              <a:rPr sz="1200">
                <a:solidFill>
                  <a:srgbClr val="757575"/>
                </a:solidFill>
              </a:rPr>
              <a:t>  www.yourstore.com</a:t>
            </a:r>
          </a:p>
          <a:p>
            <a:r>
              <a:rPr sz="1700" b="1">
                <a:solidFill>
                  <a:srgbClr val="1A73E8"/>
                </a:solidFill>
              </a:rPr>
              <a:t>Shop Our Summer Collection - Free Shipping Over $50</a:t>
            </a:r>
          </a:p>
          <a:p>
            <a:r>
              <a:rPr sz="1300">
                <a:solidFill>
                  <a:srgbClr val="202020"/>
                </a:solidFill>
              </a:rPr>
              <a:t>New arrivals, top sellers, and exclusive online-only deals.</a:t>
            </a:r>
          </a:p>
          <a:p>
            <a:r>
              <a:rPr sz="1300" u="sng">
                <a:solidFill>
                  <a:srgbClr val="1A73E8"/>
                </a:solidFill>
              </a:rPr>
              <a:t>
New Arrivals        Best Sellers        Sale Items        Contact Us</a:t>
            </a:r>
          </a:p>
        </p:txBody>
      </p:sp>
      <p:sp>
        <p:nvSpPr>
          <p:cNvPr id="8" name="Rectangle 7"/>
          <p:cNvSpPr/>
          <p:nvPr/>
        </p:nvSpPr>
        <p:spPr>
          <a:xfrm>
            <a:off x="8503920" y="2971800"/>
            <a:ext cx="3108960" cy="2377440"/>
          </a:xfrm>
          <a:prstGeom prst="rect">
            <a:avLst/>
          </a:prstGeom>
          <a:solidFill>
            <a:srgbClr val="E8F5E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F9D58"/>
                </a:solidFill>
                <a:latin typeface="Calibri"/>
              </a:rPr>
              <a:t>Sitelinks =
the 4 blue links
at the bottom
(extra pages users
can jump to)</a:t>
            </a:r>
          </a:p>
        </p:txBody>
      </p:sp>
      <p:sp>
        <p:nvSpPr>
          <p:cNvPr id="9" name="TextBox 8"/>
          <p:cNvSpPr txBox="1"/>
          <p:nvPr/>
        </p:nvSpPr>
        <p:spPr>
          <a:xfrm>
            <a:off x="548640" y="5577840"/>
            <a:ext cx="10972800" cy="1188720"/>
          </a:xfrm>
          <a:prstGeom prst="rect">
            <a:avLst/>
          </a:prstGeom>
          <a:noFill/>
        </p:spPr>
        <p:txBody>
          <a:bodyPr wrap="square">
            <a:spAutoFit/>
          </a:bodyPr>
          <a:lstStyle/>
          <a:p>
            <a:pPr>
              <a:spcAft>
                <a:spcPts val="800"/>
              </a:spcAft>
            </a:pPr>
            <a:r>
              <a:rPr sz="1800" b="1">
                <a:solidFill>
                  <a:srgbClr val="F58B00"/>
                </a:solidFill>
                <a:latin typeface="Calibri"/>
              </a:rPr>
              <a:t>● Other asset types: Call, Location, Callout, Price, App, Lead Form</a:t>
            </a:r>
          </a:p>
          <a:p>
            <a:pPr>
              <a:spcAft>
                <a:spcPts val="800"/>
              </a:spcAft>
            </a:pPr>
            <a:r>
              <a:rPr sz="1800" b="1">
                <a:solidFill>
                  <a:srgbClr val="9C27B0"/>
                </a:solidFill>
                <a:latin typeface="Calibri"/>
              </a:rPr>
              <a:t>● Charged at the SAME CPC as a normal click — no extra cost per asset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10 of 11</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D93025"/>
                </a:solidFill>
                <a:latin typeface="Calibri"/>
              </a:rPr>
              <a:t>Impression</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914400"/>
          </a:xfrm>
          <a:prstGeom prst="roundRect">
            <a:avLst/>
          </a:prstGeom>
          <a:solidFill>
            <a:srgbClr val="D9302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Counted every single time your ad is displayed to a user — regardless of whether they click it.</a:t>
            </a:r>
          </a:p>
        </p:txBody>
      </p:sp>
      <p:sp>
        <p:nvSpPr>
          <p:cNvPr id="6" name="TextBox 5"/>
          <p:cNvSpPr txBox="1"/>
          <p:nvPr/>
        </p:nvSpPr>
        <p:spPr>
          <a:xfrm>
            <a:off x="548640" y="2651760"/>
            <a:ext cx="10972800" cy="3200400"/>
          </a:xfrm>
          <a:prstGeom prst="rect">
            <a:avLst/>
          </a:prstGeom>
          <a:noFill/>
        </p:spPr>
        <p:txBody>
          <a:bodyPr wrap="square">
            <a:spAutoFit/>
          </a:bodyPr>
          <a:lstStyle/>
          <a:p>
            <a:pPr>
              <a:spcAft>
                <a:spcPts val="800"/>
              </a:spcAft>
            </a:pPr>
            <a:r>
              <a:rPr sz="2200" b="1">
                <a:solidFill>
                  <a:srgbClr val="1A73E8"/>
                </a:solidFill>
                <a:latin typeface="Calibri"/>
              </a:rPr>
              <a:t>● 1 impression = 1 ad shown, even if it's the same user seeing it twice</a:t>
            </a:r>
          </a:p>
          <a:p>
            <a:pPr>
              <a:spcAft>
                <a:spcPts val="800"/>
              </a:spcAft>
            </a:pPr>
            <a:r>
              <a:rPr sz="2200" b="1">
                <a:solidFill>
                  <a:srgbClr val="F58B00"/>
                </a:solidFill>
                <a:latin typeface="Calibri"/>
              </a:rPr>
              <a:t>● Impressions matter most for awareness goals (measured via CPM bidding)</a:t>
            </a:r>
          </a:p>
          <a:p>
            <a:pPr>
              <a:spcAft>
                <a:spcPts val="800"/>
              </a:spcAft>
            </a:pPr>
            <a:r>
              <a:rPr sz="2200" b="1">
                <a:solidFill>
                  <a:srgbClr val="0F9D58"/>
                </a:solidFill>
                <a:latin typeface="Calibri"/>
              </a:rPr>
              <a:t>● Impression Share = the % of eligible auctions where your ad actually appeared</a:t>
            </a:r>
          </a:p>
          <a:p>
            <a:pPr>
              <a:spcAft>
                <a:spcPts val="800"/>
              </a:spcAft>
            </a:pPr>
            <a:r>
              <a:rPr sz="2200" b="1">
                <a:solidFill>
                  <a:srgbClr val="757575"/>
                </a:solidFill>
                <a:latin typeface="Calibri"/>
              </a:rPr>
              <a:t>● Example: if your ad was eligible for 1,000 auctions but showed in 700, your Impression Share = 70%</a:t>
            </a:r>
          </a:p>
        </p:txBody>
      </p:sp>
      <p:sp>
        <p:nvSpPr>
          <p:cNvPr id="7" name="Rectangle 6"/>
          <p:cNvSpPr/>
          <p:nvPr/>
        </p:nvSpPr>
        <p:spPr>
          <a:xfrm>
            <a:off x="1645920" y="5120640"/>
            <a:ext cx="8869680" cy="1005840"/>
          </a:xfrm>
          <a:prstGeom prst="rect">
            <a:avLst/>
          </a:prstGeom>
          <a:solidFill>
            <a:srgbClr val="FFEBE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D93025"/>
                </a:solidFill>
                <a:latin typeface="Calibri"/>
              </a:rPr>
              <a:t>1,000 Eligible Auctions → Ad Shown 700 Times → 70% Impression Share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11 of 11</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9C27B0"/>
                </a:solidFill>
                <a:latin typeface="Calibri"/>
              </a:rPr>
              <a:t>Landing Page</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914400"/>
          </a:xfrm>
          <a:prstGeom prst="roundRect">
            <a:avLst/>
          </a:prstGeom>
          <a:solidFill>
            <a:srgbClr val="9C27B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The webpage a user arrives at after clicking your ad — it must deliver on the ad's promise.</a:t>
            </a:r>
          </a:p>
        </p:txBody>
      </p:sp>
      <p:sp>
        <p:nvSpPr>
          <p:cNvPr id="6" name="TextBox 5"/>
          <p:cNvSpPr txBox="1"/>
          <p:nvPr/>
        </p:nvSpPr>
        <p:spPr>
          <a:xfrm>
            <a:off x="548640" y="2651760"/>
            <a:ext cx="10972800" cy="3291840"/>
          </a:xfrm>
          <a:prstGeom prst="rect">
            <a:avLst/>
          </a:prstGeom>
          <a:noFill/>
        </p:spPr>
        <p:txBody>
          <a:bodyPr wrap="square">
            <a:spAutoFit/>
          </a:bodyPr>
          <a:lstStyle/>
          <a:p>
            <a:pPr>
              <a:spcAft>
                <a:spcPts val="800"/>
              </a:spcAft>
            </a:pPr>
            <a:r>
              <a:rPr sz="2200" b="1">
                <a:solidFill>
                  <a:srgbClr val="1A73E8"/>
                </a:solidFill>
                <a:latin typeface="Calibri"/>
              </a:rPr>
              <a:t>● Must match ad intent — an ad for 'red running shoes' should NOT land on a general homepage</a:t>
            </a:r>
          </a:p>
          <a:p>
            <a:pPr>
              <a:spcAft>
                <a:spcPts val="800"/>
              </a:spcAft>
            </a:pPr>
            <a:r>
              <a:rPr sz="2200" b="1">
                <a:solidFill>
                  <a:srgbClr val="F58B00"/>
                </a:solidFill>
                <a:latin typeface="Calibri"/>
              </a:rPr>
              <a:t>● Needs fast load speed, especially on mobile — slow pages lose users before they even see content</a:t>
            </a:r>
          </a:p>
          <a:p>
            <a:pPr>
              <a:spcAft>
                <a:spcPts val="800"/>
              </a:spcAft>
            </a:pPr>
            <a:r>
              <a:rPr sz="2200" b="1">
                <a:solidFill>
                  <a:srgbClr val="0F9D58"/>
                </a:solidFill>
                <a:latin typeface="Calibri"/>
              </a:rPr>
              <a:t>● Needs a clear call-to-action (CTA) — 'Buy Now', 'Get a Quote', 'Sign Up'</a:t>
            </a:r>
          </a:p>
          <a:p>
            <a:pPr>
              <a:spcAft>
                <a:spcPts val="800"/>
              </a:spcAft>
            </a:pPr>
            <a:r>
              <a:rPr sz="2200" b="1">
                <a:solidFill>
                  <a:srgbClr val="D93025"/>
                </a:solidFill>
                <a:latin typeface="Calibri"/>
              </a:rPr>
              <a:t>● Directly affects Quality Score (Landing Page Experience component) and Conversion Rate</a:t>
            </a:r>
          </a:p>
        </p:txBody>
      </p:sp>
      <p:sp>
        <p:nvSpPr>
          <p:cNvPr id="7" name="Rounded Rectangle 6"/>
          <p:cNvSpPr/>
          <p:nvPr/>
        </p:nvSpPr>
        <p:spPr>
          <a:xfrm>
            <a:off x="914400" y="5212080"/>
            <a:ext cx="4937760" cy="914400"/>
          </a:xfrm>
          <a:prstGeom prst="roundRect">
            <a:avLst/>
          </a:prstGeom>
          <a:solidFill>
            <a:srgbClr val="0F9D5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GOOD: Ad links to
specific product page</a:t>
            </a:r>
          </a:p>
        </p:txBody>
      </p:sp>
      <p:sp>
        <p:nvSpPr>
          <p:cNvPr id="8" name="Rounded Rectangle 7"/>
          <p:cNvSpPr/>
          <p:nvPr/>
        </p:nvSpPr>
        <p:spPr>
          <a:xfrm>
            <a:off x="6309360" y="5212080"/>
            <a:ext cx="4937760" cy="914400"/>
          </a:xfrm>
          <a:prstGeom prst="roundRect">
            <a:avLst/>
          </a:prstGeom>
          <a:solidFill>
            <a:srgbClr val="D9302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Calibri"/>
              </a:rPr>
              <a:t>BAD: Ad links to
generic homepage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8B00"/>
        </a:solidFill>
        <a:effectLst/>
      </p:bgPr>
    </p:bg>
    <p:spTree>
      <p:nvGrpSpPr>
        <p:cNvPr id="1" name=""/>
        <p:cNvGrpSpPr/>
        <p:nvPr/>
      </p:nvGrpSpPr>
      <p:grpSpPr>
        <a:xfrm>
          <a:off x="0" y="0"/>
          <a:ext cx="0" cy="0"/>
          <a:chOff x="0" y="0"/>
          <a:chExt cx="0" cy="0"/>
        </a:xfrm>
      </p:grpSpPr>
      <p:sp>
        <p:nvSpPr>
          <p:cNvPr id="2" name="TextBox 1"/>
          <p:cNvSpPr txBox="1"/>
          <p:nvPr/>
        </p:nvSpPr>
        <p:spPr>
          <a:xfrm>
            <a:off x="914400" y="2743200"/>
            <a:ext cx="10332720" cy="1371600"/>
          </a:xfrm>
          <a:prstGeom prst="rect">
            <a:avLst/>
          </a:prstGeom>
          <a:noFill/>
        </p:spPr>
        <p:txBody>
          <a:bodyPr wrap="square">
            <a:spAutoFit/>
          </a:bodyPr>
          <a:lstStyle/>
          <a:p>
            <a:pPr algn="ctr"/>
            <a:r>
              <a:rPr sz="4800" b="1">
                <a:solidFill>
                  <a:srgbClr val="FFFFFF"/>
                </a:solidFill>
                <a:latin typeface="Calibri"/>
              </a:rPr>
              <a:t>Section 3: Costs &amp; Budgeting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1 of 2</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1A73E8"/>
                </a:solidFill>
                <a:latin typeface="Calibri"/>
              </a:rPr>
              <a:t>Average Daily Budget</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91440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The amount you're willing to spend per day, on average, over a month — set by the advertiser.</a:t>
            </a:r>
          </a:p>
        </p:txBody>
      </p:sp>
      <p:sp>
        <p:nvSpPr>
          <p:cNvPr id="6" name="TextBox 5"/>
          <p:cNvSpPr txBox="1"/>
          <p:nvPr/>
        </p:nvSpPr>
        <p:spPr>
          <a:xfrm>
            <a:off x="548640" y="2651760"/>
            <a:ext cx="10972800" cy="3291840"/>
          </a:xfrm>
          <a:prstGeom prst="rect">
            <a:avLst/>
          </a:prstGeom>
          <a:noFill/>
        </p:spPr>
        <p:txBody>
          <a:bodyPr wrap="square">
            <a:spAutoFit/>
          </a:bodyPr>
          <a:lstStyle/>
          <a:p>
            <a:pPr>
              <a:spcAft>
                <a:spcPts val="800"/>
              </a:spcAft>
            </a:pPr>
            <a:r>
              <a:rPr sz="2100" b="1">
                <a:solidFill>
                  <a:srgbClr val="F58B00"/>
                </a:solidFill>
                <a:latin typeface="Calibri"/>
              </a:rPr>
              <a:t>● Daily spend CAN reach up to 2x your average daily budget on high-traffic days</a:t>
            </a:r>
          </a:p>
          <a:p>
            <a:pPr>
              <a:spcAft>
                <a:spcPts val="800"/>
              </a:spcAft>
            </a:pPr>
            <a:r>
              <a:rPr sz="2100" b="1">
                <a:solidFill>
                  <a:srgbClr val="0F9D58"/>
                </a:solidFill>
                <a:latin typeface="Calibri"/>
              </a:rPr>
              <a:t>● Monthly spend CAN reach up to 30.4x your average daily budget</a:t>
            </a:r>
          </a:p>
          <a:p>
            <a:pPr>
              <a:spcAft>
                <a:spcPts val="800"/>
              </a:spcAft>
            </a:pPr>
            <a:r>
              <a:rPr sz="2100" b="1">
                <a:solidFill>
                  <a:srgbClr val="757575"/>
                </a:solidFill>
                <a:latin typeface="Calibri"/>
              </a:rPr>
              <a:t>● This is normal — Google balances it out over the billing cycle, never overcharging monthly</a:t>
            </a:r>
          </a:p>
          <a:p>
            <a:pPr>
              <a:spcAft>
                <a:spcPts val="800"/>
              </a:spcAft>
            </a:pPr>
            <a:r>
              <a:rPr sz="2100" b="1">
                <a:solidFill>
                  <a:srgbClr val="D93025"/>
                </a:solidFill>
                <a:latin typeface="Calibri"/>
              </a:rPr>
              <a:t>● Set budgets based on your industry's average CPC — too low a budget limits algorithm learning</a:t>
            </a:r>
          </a:p>
        </p:txBody>
      </p:sp>
      <p:sp>
        <p:nvSpPr>
          <p:cNvPr id="7" name="Rounded Rectangle 6"/>
          <p:cNvSpPr/>
          <p:nvPr/>
        </p:nvSpPr>
        <p:spPr>
          <a:xfrm>
            <a:off x="1188720" y="5394960"/>
            <a:ext cx="4572000" cy="91440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Set: $50/day budget</a:t>
            </a:r>
          </a:p>
        </p:txBody>
      </p:sp>
      <p:sp>
        <p:nvSpPr>
          <p:cNvPr id="8" name="Rounded Rectangle 7"/>
          <p:cNvSpPr/>
          <p:nvPr/>
        </p:nvSpPr>
        <p:spPr>
          <a:xfrm>
            <a:off x="6400800" y="5394960"/>
            <a:ext cx="4572000" cy="914400"/>
          </a:xfrm>
          <a:prstGeom prst="roundRect">
            <a:avLst/>
          </a:prstGeom>
          <a:solidFill>
            <a:srgbClr val="F58B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Possible single day: up to $100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2 of 2</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F58B00"/>
                </a:solidFill>
                <a:latin typeface="Calibri"/>
              </a:rPr>
              <a:t>Cost = Budget + Ad Rank</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914400"/>
          </a:xfrm>
          <a:prstGeom prst="roundRect">
            <a:avLst/>
          </a:prstGeom>
          <a:solidFill>
            <a:srgbClr val="F58B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Total cost isn't fixed — it's a function of your daily budget setting AND how well you compete in the Ad Rank auction.</a:t>
            </a:r>
          </a:p>
        </p:txBody>
      </p:sp>
      <p:sp>
        <p:nvSpPr>
          <p:cNvPr id="6" name="Rounded Rectangle 5"/>
          <p:cNvSpPr/>
          <p:nvPr/>
        </p:nvSpPr>
        <p:spPr>
          <a:xfrm>
            <a:off x="1371600" y="2743200"/>
            <a:ext cx="4114800" cy="182880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Average Daily
Budget
(what YOU set)</a:t>
            </a:r>
          </a:p>
        </p:txBody>
      </p:sp>
      <p:sp>
        <p:nvSpPr>
          <p:cNvPr id="7" name="TextBox 6"/>
          <p:cNvSpPr txBox="1"/>
          <p:nvPr/>
        </p:nvSpPr>
        <p:spPr>
          <a:xfrm>
            <a:off x="5623560" y="3383280"/>
            <a:ext cx="822960" cy="640080"/>
          </a:xfrm>
          <a:prstGeom prst="rect">
            <a:avLst/>
          </a:prstGeom>
          <a:noFill/>
        </p:spPr>
        <p:txBody>
          <a:bodyPr wrap="square">
            <a:spAutoFit/>
          </a:bodyPr>
          <a:lstStyle/>
          <a:p>
            <a:pPr algn="ctr"/>
            <a:r>
              <a:rPr sz="4000" b="1" i="0">
                <a:solidFill>
                  <a:srgbClr val="202020"/>
                </a:solidFill>
                <a:latin typeface="Calibri"/>
              </a:rPr>
              <a:t>+</a:t>
            </a:r>
          </a:p>
        </p:txBody>
      </p:sp>
      <p:sp>
        <p:nvSpPr>
          <p:cNvPr id="8" name="Rounded Rectangle 7"/>
          <p:cNvSpPr/>
          <p:nvPr/>
        </p:nvSpPr>
        <p:spPr>
          <a:xfrm>
            <a:off x="6583680" y="2743200"/>
            <a:ext cx="4206240" cy="1828800"/>
          </a:xfrm>
          <a:prstGeom prst="roundRect">
            <a:avLst/>
          </a:prstGeom>
          <a:solidFill>
            <a:srgbClr val="0F9D5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Ad Rank
(Bid × Quality Score
+ auction factors)</a:t>
            </a:r>
          </a:p>
        </p:txBody>
      </p:sp>
      <p:sp>
        <p:nvSpPr>
          <p:cNvPr id="9" name="TextBox 8"/>
          <p:cNvSpPr txBox="1"/>
          <p:nvPr/>
        </p:nvSpPr>
        <p:spPr>
          <a:xfrm>
            <a:off x="548640" y="4937760"/>
            <a:ext cx="10972800" cy="1463040"/>
          </a:xfrm>
          <a:prstGeom prst="rect">
            <a:avLst/>
          </a:prstGeom>
          <a:noFill/>
        </p:spPr>
        <p:txBody>
          <a:bodyPr wrap="square">
            <a:spAutoFit/>
          </a:bodyPr>
          <a:lstStyle/>
          <a:p>
            <a:pPr>
              <a:spcAft>
                <a:spcPts val="800"/>
              </a:spcAft>
            </a:pPr>
            <a:r>
              <a:rPr sz="2000" b="1">
                <a:solidFill>
                  <a:srgbClr val="1A73E8"/>
                </a:solidFill>
                <a:latin typeface="Calibri"/>
              </a:rPr>
              <a:t>● Advertisers directly control: bid amount + ad/keyword/landing page quality</a:t>
            </a:r>
          </a:p>
          <a:p>
            <a:pPr>
              <a:spcAft>
                <a:spcPts val="800"/>
              </a:spcAft>
            </a:pPr>
            <a:r>
              <a:rPr sz="2000" b="1">
                <a:solidFill>
                  <a:srgbClr val="D93025"/>
                </a:solidFill>
                <a:latin typeface="Calibri"/>
              </a:rPr>
              <a:t>● Advertisers do NOT control: competitor bids, auction volume, search context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9D58"/>
        </a:solidFill>
        <a:effectLst/>
      </p:bgPr>
    </p:bg>
    <p:spTree>
      <p:nvGrpSpPr>
        <p:cNvPr id="1" name=""/>
        <p:cNvGrpSpPr/>
        <p:nvPr/>
      </p:nvGrpSpPr>
      <p:grpSpPr>
        <a:xfrm>
          <a:off x="0" y="0"/>
          <a:ext cx="0" cy="0"/>
          <a:chOff x="0" y="0"/>
          <a:chExt cx="0" cy="0"/>
        </a:xfrm>
      </p:grpSpPr>
      <p:sp>
        <p:nvSpPr>
          <p:cNvPr id="2" name="TextBox 1"/>
          <p:cNvSpPr txBox="1"/>
          <p:nvPr/>
        </p:nvSpPr>
        <p:spPr>
          <a:xfrm>
            <a:off x="914400" y="2743200"/>
            <a:ext cx="10332720" cy="1371600"/>
          </a:xfrm>
          <a:prstGeom prst="rect">
            <a:avLst/>
          </a:prstGeom>
          <a:noFill/>
        </p:spPr>
        <p:txBody>
          <a:bodyPr wrap="square">
            <a:spAutoFit/>
          </a:bodyPr>
          <a:lstStyle/>
          <a:p>
            <a:pPr algn="ctr"/>
            <a:r>
              <a:rPr sz="4800" b="1">
                <a:solidFill>
                  <a:srgbClr val="FFFFFF"/>
                </a:solidFill>
                <a:latin typeface="Calibri"/>
              </a:rPr>
              <a:t>Section 4: Campaign Types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1 of 6</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1A73E8"/>
                </a:solidFill>
                <a:latin typeface="Calibri"/>
              </a:rPr>
              <a:t>Search Campaigns</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109728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Text ads shown directly on the Google Search results page (SERP) when users type a matching query.</a:t>
            </a:r>
          </a:p>
        </p:txBody>
      </p:sp>
      <p:sp>
        <p:nvSpPr>
          <p:cNvPr id="6" name="TextBox 5"/>
          <p:cNvSpPr txBox="1"/>
          <p:nvPr/>
        </p:nvSpPr>
        <p:spPr>
          <a:xfrm>
            <a:off x="548641" y="2834640"/>
            <a:ext cx="3826714" cy="2564805"/>
          </a:xfrm>
          <a:prstGeom prst="rect">
            <a:avLst/>
          </a:prstGeom>
          <a:noFill/>
        </p:spPr>
        <p:txBody>
          <a:bodyPr wrap="square">
            <a:spAutoFit/>
          </a:bodyPr>
          <a:lstStyle/>
          <a:p>
            <a:pPr>
              <a:spcAft>
                <a:spcPts val="800"/>
              </a:spcAft>
            </a:pPr>
            <a:r>
              <a:rPr sz="2200" b="1" dirty="0">
                <a:solidFill>
                  <a:srgbClr val="757575"/>
                </a:solidFill>
                <a:latin typeface="Calibri"/>
              </a:rPr>
              <a:t>● Uses Responsive Search Ads (RSAs) — up to 15 headlines &amp; 4 descriptions, Google mixes &amp; tests combinations</a:t>
            </a:r>
          </a:p>
          <a:p>
            <a:pPr>
              <a:spcAft>
                <a:spcPts val="800"/>
              </a:spcAft>
            </a:pPr>
            <a:r>
              <a:rPr sz="2200" b="1" dirty="0">
                <a:solidFill>
                  <a:srgbClr val="757575"/>
                </a:solidFill>
                <a:latin typeface="Calibri"/>
              </a:rPr>
              <a:t>● Best for: high-intent users actively searching for your product/service</a:t>
            </a:r>
          </a:p>
        </p:txBody>
      </p:sp>
      <p:pic>
        <p:nvPicPr>
          <p:cNvPr id="8" name="Picture 7">
            <a:extLst>
              <a:ext uri="{FF2B5EF4-FFF2-40B4-BE49-F238E27FC236}">
                <a16:creationId xmlns:a16="http://schemas.microsoft.com/office/drawing/2014/main" id="{1E04E679-744F-C9E9-1777-DD089A56C70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75355" y="2699814"/>
            <a:ext cx="7590841" cy="400257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2 of 6</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F58B00"/>
                </a:solidFill>
                <a:latin typeface="Calibri"/>
              </a:rPr>
              <a:t>Shopping Campaigns</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1097280"/>
          </a:xfrm>
          <a:prstGeom prst="roundRect">
            <a:avLst/>
          </a:prstGeom>
          <a:solidFill>
            <a:srgbClr val="F58B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Product ads showing image, title, price &amp; store name — pulled from your Google Merchant Center feed.</a:t>
            </a:r>
          </a:p>
        </p:txBody>
      </p:sp>
      <p:sp>
        <p:nvSpPr>
          <p:cNvPr id="6" name="TextBox 5"/>
          <p:cNvSpPr txBox="1"/>
          <p:nvPr/>
        </p:nvSpPr>
        <p:spPr>
          <a:xfrm>
            <a:off x="548640" y="2834640"/>
            <a:ext cx="4102018" cy="2328843"/>
          </a:xfrm>
          <a:prstGeom prst="rect">
            <a:avLst/>
          </a:prstGeom>
          <a:noFill/>
        </p:spPr>
        <p:txBody>
          <a:bodyPr wrap="square">
            <a:spAutoFit/>
          </a:bodyPr>
          <a:lstStyle/>
          <a:p>
            <a:pPr>
              <a:spcAft>
                <a:spcPts val="800"/>
              </a:spcAft>
            </a:pPr>
            <a:r>
              <a:rPr sz="2200" b="1" dirty="0">
                <a:solidFill>
                  <a:srgbClr val="757575"/>
                </a:solidFill>
                <a:latin typeface="Calibri"/>
              </a:rPr>
              <a:t>● No need to write ad copy — Google generates the ad from your product feed data</a:t>
            </a:r>
            <a:endParaRPr lang="en-IN" sz="2200" b="1" dirty="0">
              <a:solidFill>
                <a:srgbClr val="757575"/>
              </a:solidFill>
              <a:latin typeface="Calibri"/>
            </a:endParaRPr>
          </a:p>
          <a:p>
            <a:pPr>
              <a:spcAft>
                <a:spcPts val="800"/>
              </a:spcAft>
            </a:pPr>
            <a:endParaRPr sz="2200" b="1" dirty="0">
              <a:solidFill>
                <a:srgbClr val="757575"/>
              </a:solidFill>
              <a:latin typeface="Calibri"/>
            </a:endParaRPr>
          </a:p>
          <a:p>
            <a:pPr>
              <a:spcAft>
                <a:spcPts val="800"/>
              </a:spcAft>
            </a:pPr>
            <a:r>
              <a:rPr sz="2200" b="1" dirty="0">
                <a:solidFill>
                  <a:srgbClr val="757575"/>
                </a:solidFill>
                <a:latin typeface="Calibri"/>
              </a:rPr>
              <a:t>● Best for: e-commerce businesses with a product catalog</a:t>
            </a:r>
          </a:p>
        </p:txBody>
      </p:sp>
      <p:pic>
        <p:nvPicPr>
          <p:cNvPr id="8" name="Picture 7">
            <a:extLst>
              <a:ext uri="{FF2B5EF4-FFF2-40B4-BE49-F238E27FC236}">
                <a16:creationId xmlns:a16="http://schemas.microsoft.com/office/drawing/2014/main" id="{5EFD4858-7047-33A3-B45B-28FC6E9F33C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50658" y="2775326"/>
            <a:ext cx="7368929" cy="388530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3 of 6</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0F9D58"/>
                </a:solidFill>
                <a:latin typeface="Calibri"/>
              </a:rPr>
              <a:t>Display Campaigns</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1097280"/>
          </a:xfrm>
          <a:prstGeom prst="roundRect">
            <a:avLst/>
          </a:prstGeom>
          <a:solidFill>
            <a:srgbClr val="0F9D5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Visual (image + text) ads shown across millions of websites, apps, and YouTube in the Google Display Network.</a:t>
            </a:r>
          </a:p>
        </p:txBody>
      </p:sp>
      <p:sp>
        <p:nvSpPr>
          <p:cNvPr id="6" name="TextBox 5"/>
          <p:cNvSpPr txBox="1"/>
          <p:nvPr/>
        </p:nvSpPr>
        <p:spPr>
          <a:xfrm>
            <a:off x="548640" y="2834640"/>
            <a:ext cx="4514973" cy="1549142"/>
          </a:xfrm>
          <a:prstGeom prst="rect">
            <a:avLst/>
          </a:prstGeom>
          <a:noFill/>
        </p:spPr>
        <p:txBody>
          <a:bodyPr wrap="square">
            <a:spAutoFit/>
          </a:bodyPr>
          <a:lstStyle/>
          <a:p>
            <a:pPr>
              <a:spcAft>
                <a:spcPts val="800"/>
              </a:spcAft>
            </a:pPr>
            <a:r>
              <a:rPr sz="2200" b="1" dirty="0">
                <a:solidFill>
                  <a:srgbClr val="757575"/>
                </a:solidFill>
                <a:latin typeface="Calibri"/>
              </a:rPr>
              <a:t>● Great for: brand awareness and remarketing to past website visitors</a:t>
            </a:r>
          </a:p>
          <a:p>
            <a:pPr>
              <a:spcAft>
                <a:spcPts val="800"/>
              </a:spcAft>
            </a:pPr>
            <a:r>
              <a:rPr sz="2200" b="1" dirty="0">
                <a:solidFill>
                  <a:srgbClr val="757575"/>
                </a:solidFill>
                <a:latin typeface="Calibri"/>
              </a:rPr>
              <a:t>● Uses banner-style image ads rather than text</a:t>
            </a:r>
          </a:p>
        </p:txBody>
      </p:sp>
      <p:pic>
        <p:nvPicPr>
          <p:cNvPr id="8" name="Picture 7">
            <a:extLst>
              <a:ext uri="{FF2B5EF4-FFF2-40B4-BE49-F238E27FC236}">
                <a16:creationId xmlns:a16="http://schemas.microsoft.com/office/drawing/2014/main" id="{C552EABC-BF14-7ED3-73B7-88F2437A8C0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29084" y="2758203"/>
            <a:ext cx="6720000" cy="392955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4 of 6</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D93025"/>
                </a:solidFill>
                <a:latin typeface="Calibri"/>
              </a:rPr>
              <a:t>Video Campaigns</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1097280"/>
          </a:xfrm>
          <a:prstGeom prst="roundRect">
            <a:avLst/>
          </a:prstGeom>
          <a:solidFill>
            <a:srgbClr val="D9302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dirty="0">
                <a:solidFill>
                  <a:srgbClr val="FFFFFF"/>
                </a:solidFill>
                <a:latin typeface="Calibri"/>
              </a:rPr>
              <a:t>DEFINITION: </a:t>
            </a:r>
            <a:r>
              <a:rPr sz="2000" b="0" dirty="0">
                <a:solidFill>
                  <a:srgbClr val="FFFFFF"/>
                </a:solidFill>
                <a:latin typeface="Calibri"/>
              </a:rPr>
              <a:t>Ads that run on YouTube and video partner sites, in 5 formats: skippable, non-skippable, bumper, in-feed, outstream.</a:t>
            </a:r>
          </a:p>
        </p:txBody>
      </p:sp>
      <p:sp>
        <p:nvSpPr>
          <p:cNvPr id="6" name="TextBox 5"/>
          <p:cNvSpPr txBox="1"/>
          <p:nvPr/>
        </p:nvSpPr>
        <p:spPr>
          <a:xfrm>
            <a:off x="548640" y="2834640"/>
            <a:ext cx="3590741" cy="2667397"/>
          </a:xfrm>
          <a:prstGeom prst="rect">
            <a:avLst/>
          </a:prstGeom>
          <a:noFill/>
        </p:spPr>
        <p:txBody>
          <a:bodyPr wrap="square">
            <a:spAutoFit/>
          </a:bodyPr>
          <a:lstStyle/>
          <a:p>
            <a:pPr>
              <a:spcAft>
                <a:spcPts val="800"/>
              </a:spcAft>
            </a:pPr>
            <a:r>
              <a:rPr sz="2200" b="1" dirty="0">
                <a:solidFill>
                  <a:srgbClr val="757575"/>
                </a:solidFill>
                <a:latin typeface="Calibri"/>
              </a:rPr>
              <a:t>● Non-skippable ads max out at 15 seconds; bumper ads are only 6 seconds</a:t>
            </a:r>
            <a:endParaRPr lang="en-IN" sz="2200" b="1" dirty="0">
              <a:solidFill>
                <a:srgbClr val="757575"/>
              </a:solidFill>
              <a:latin typeface="Calibri"/>
            </a:endParaRPr>
          </a:p>
          <a:p>
            <a:pPr>
              <a:spcAft>
                <a:spcPts val="800"/>
              </a:spcAft>
            </a:pPr>
            <a:endParaRPr sz="2200" b="1" dirty="0">
              <a:solidFill>
                <a:srgbClr val="757575"/>
              </a:solidFill>
              <a:latin typeface="Calibri"/>
            </a:endParaRPr>
          </a:p>
          <a:p>
            <a:pPr>
              <a:spcAft>
                <a:spcPts val="800"/>
              </a:spcAft>
            </a:pPr>
            <a:r>
              <a:rPr sz="2200" b="1" dirty="0">
                <a:solidFill>
                  <a:srgbClr val="757575"/>
                </a:solidFill>
                <a:latin typeface="Calibri"/>
              </a:rPr>
              <a:t>● Best for: storytelling, brand awareness, and reaching younger audiences</a:t>
            </a:r>
          </a:p>
        </p:txBody>
      </p:sp>
      <p:pic>
        <p:nvPicPr>
          <p:cNvPr id="8" name="Picture 7">
            <a:extLst>
              <a:ext uri="{FF2B5EF4-FFF2-40B4-BE49-F238E27FC236}">
                <a16:creationId xmlns:a16="http://schemas.microsoft.com/office/drawing/2014/main" id="{38DD3F9F-D62D-C250-2EC7-0553B4630CA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6248" y="3038168"/>
            <a:ext cx="7673003" cy="355851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Video Advertising: How It Works, Formats, KPIs &amp; Future Trends">
            <a:extLst>
              <a:ext uri="{FF2B5EF4-FFF2-40B4-BE49-F238E27FC236}">
                <a16:creationId xmlns:a16="http://schemas.microsoft.com/office/drawing/2014/main" id="{E394FCD9-7E13-1DFA-A78F-F913455E02B4}"/>
              </a:ext>
            </a:extLst>
          </p:cNvPr>
          <p:cNvPicPr>
            <a:picLocks noChangeAspect="1"/>
          </p:cNvPicPr>
          <p:nvPr/>
        </p:nvPicPr>
        <p:blipFill>
          <a:blip r:embed="rId2"/>
          <a:stretch>
            <a:fillRect/>
          </a:stretch>
        </p:blipFill>
        <p:spPr>
          <a:xfrm>
            <a:off x="2240701" y="857250"/>
            <a:ext cx="7713707" cy="5143500"/>
          </a:xfrm>
          <a:prstGeom prst="rect">
            <a:avLst/>
          </a:prstGeom>
        </p:spPr>
      </p:pic>
      <p:sp>
        <p:nvSpPr>
          <p:cNvPr id="4" name="TextBox 3">
            <a:extLst>
              <a:ext uri="{FF2B5EF4-FFF2-40B4-BE49-F238E27FC236}">
                <a16:creationId xmlns:a16="http://schemas.microsoft.com/office/drawing/2014/main" id="{63300F62-5A5E-C8B5-0B7B-BEF75E4A5AA3}"/>
              </a:ext>
            </a:extLst>
          </p:cNvPr>
          <p:cNvSpPr txBox="1"/>
          <p:nvPr/>
        </p:nvSpPr>
        <p:spPr>
          <a:xfrm>
            <a:off x="576166" y="261810"/>
            <a:ext cx="6097554" cy="400110"/>
          </a:xfrm>
          <a:prstGeom prst="rect">
            <a:avLst/>
          </a:prstGeom>
          <a:noFill/>
        </p:spPr>
        <p:txBody>
          <a:bodyPr wrap="square">
            <a:spAutoFit/>
          </a:bodyPr>
          <a:lstStyle/>
          <a:p>
            <a:r>
              <a:rPr lang="en-IN" sz="2000" b="0" dirty="0">
                <a:latin typeface="Calibri"/>
              </a:rPr>
              <a:t>Skippable video ads</a:t>
            </a:r>
            <a:endParaRPr lang="en-IN" dirty="0"/>
          </a:p>
        </p:txBody>
      </p:sp>
    </p:spTree>
    <p:extLst>
      <p:ext uri="{BB962C8B-B14F-4D97-AF65-F5344CB8AC3E}">
        <p14:creationId xmlns:p14="http://schemas.microsoft.com/office/powerpoint/2010/main" val="4288225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71AC76-7AC6-F425-2B22-C05BDDCCF8DA}"/>
              </a:ext>
            </a:extLst>
          </p:cNvPr>
          <p:cNvPicPr>
            <a:picLocks noChangeAspect="1"/>
          </p:cNvPicPr>
          <p:nvPr/>
        </p:nvPicPr>
        <p:blipFill>
          <a:blip r:embed="rId2"/>
          <a:stretch>
            <a:fillRect/>
          </a:stretch>
        </p:blipFill>
        <p:spPr>
          <a:xfrm>
            <a:off x="1338262" y="1042987"/>
            <a:ext cx="9515475" cy="4772025"/>
          </a:xfrm>
          <a:prstGeom prst="rect">
            <a:avLst/>
          </a:prstGeom>
        </p:spPr>
      </p:pic>
      <p:sp>
        <p:nvSpPr>
          <p:cNvPr id="5" name="TextBox 4">
            <a:extLst>
              <a:ext uri="{FF2B5EF4-FFF2-40B4-BE49-F238E27FC236}">
                <a16:creationId xmlns:a16="http://schemas.microsoft.com/office/drawing/2014/main" id="{AFDBEF4C-4542-0376-CFCB-18D7FB60C403}"/>
              </a:ext>
            </a:extLst>
          </p:cNvPr>
          <p:cNvSpPr txBox="1"/>
          <p:nvPr/>
        </p:nvSpPr>
        <p:spPr>
          <a:xfrm>
            <a:off x="398884" y="131182"/>
            <a:ext cx="6097554" cy="400110"/>
          </a:xfrm>
          <a:prstGeom prst="rect">
            <a:avLst/>
          </a:prstGeom>
          <a:noFill/>
        </p:spPr>
        <p:txBody>
          <a:bodyPr wrap="square">
            <a:spAutoFit/>
          </a:bodyPr>
          <a:lstStyle/>
          <a:p>
            <a:r>
              <a:rPr lang="en-IN" sz="2000" b="0" dirty="0">
                <a:latin typeface="Calibri"/>
              </a:rPr>
              <a:t>In-feed video ads</a:t>
            </a:r>
            <a:endParaRPr lang="en-IN" dirty="0"/>
          </a:p>
        </p:txBody>
      </p:sp>
    </p:spTree>
    <p:extLst>
      <p:ext uri="{BB962C8B-B14F-4D97-AF65-F5344CB8AC3E}">
        <p14:creationId xmlns:p14="http://schemas.microsoft.com/office/powerpoint/2010/main" val="27766181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ll You Need To Know About Outstream Video Ads">
            <a:extLst>
              <a:ext uri="{FF2B5EF4-FFF2-40B4-BE49-F238E27FC236}">
                <a16:creationId xmlns:a16="http://schemas.microsoft.com/office/drawing/2014/main" id="{ED373B73-C26F-AE02-703A-367238E90883}"/>
              </a:ext>
            </a:extLst>
          </p:cNvPr>
          <p:cNvPicPr>
            <a:picLocks noChangeAspect="1"/>
          </p:cNvPicPr>
          <p:nvPr/>
        </p:nvPicPr>
        <p:blipFill>
          <a:blip r:embed="rId2"/>
          <a:stretch>
            <a:fillRect/>
          </a:stretch>
        </p:blipFill>
        <p:spPr>
          <a:xfrm>
            <a:off x="1774370" y="1364991"/>
            <a:ext cx="9380653" cy="4737230"/>
          </a:xfrm>
          <a:prstGeom prst="rect">
            <a:avLst/>
          </a:prstGeom>
        </p:spPr>
      </p:pic>
      <p:sp>
        <p:nvSpPr>
          <p:cNvPr id="4" name="TextBox 3">
            <a:extLst>
              <a:ext uri="{FF2B5EF4-FFF2-40B4-BE49-F238E27FC236}">
                <a16:creationId xmlns:a16="http://schemas.microsoft.com/office/drawing/2014/main" id="{599375F2-534A-355D-2EF9-20250675220B}"/>
              </a:ext>
            </a:extLst>
          </p:cNvPr>
          <p:cNvSpPr txBox="1"/>
          <p:nvPr/>
        </p:nvSpPr>
        <p:spPr>
          <a:xfrm>
            <a:off x="454868" y="233819"/>
            <a:ext cx="6097554" cy="400110"/>
          </a:xfrm>
          <a:prstGeom prst="rect">
            <a:avLst/>
          </a:prstGeom>
          <a:noFill/>
        </p:spPr>
        <p:txBody>
          <a:bodyPr wrap="square">
            <a:spAutoFit/>
          </a:bodyPr>
          <a:lstStyle/>
          <a:p>
            <a:r>
              <a:rPr lang="en-IN" sz="2000" b="0" dirty="0">
                <a:latin typeface="Calibri"/>
              </a:rPr>
              <a:t>Outstream video ads</a:t>
            </a:r>
            <a:endParaRPr lang="en-IN" dirty="0"/>
          </a:p>
        </p:txBody>
      </p:sp>
    </p:spTree>
    <p:extLst>
      <p:ext uri="{BB962C8B-B14F-4D97-AF65-F5344CB8AC3E}">
        <p14:creationId xmlns:p14="http://schemas.microsoft.com/office/powerpoint/2010/main" val="2469058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5 of 6</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9C27B0"/>
                </a:solidFill>
                <a:latin typeface="Calibri"/>
              </a:rPr>
              <a:t>App Campaigns</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1097280"/>
          </a:xfrm>
          <a:prstGeom prst="roundRect">
            <a:avLst/>
          </a:prstGeom>
          <a:solidFill>
            <a:srgbClr val="9C27B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Promotes app installs or in-app actions across Search, Play Store, YouTube, Gmail &amp; Display Network simultaneously.</a:t>
            </a:r>
          </a:p>
        </p:txBody>
      </p:sp>
      <p:sp>
        <p:nvSpPr>
          <p:cNvPr id="6" name="TextBox 5"/>
          <p:cNvSpPr txBox="1"/>
          <p:nvPr/>
        </p:nvSpPr>
        <p:spPr>
          <a:xfrm>
            <a:off x="548640" y="2834640"/>
            <a:ext cx="10972800" cy="1828800"/>
          </a:xfrm>
          <a:prstGeom prst="rect">
            <a:avLst/>
          </a:prstGeom>
          <a:noFill/>
        </p:spPr>
        <p:txBody>
          <a:bodyPr wrap="square">
            <a:spAutoFit/>
          </a:bodyPr>
          <a:lstStyle/>
          <a:p>
            <a:pPr>
              <a:spcAft>
                <a:spcPts val="800"/>
              </a:spcAft>
            </a:pPr>
            <a:r>
              <a:rPr sz="2200" b="1">
                <a:solidFill>
                  <a:srgbClr val="757575"/>
                </a:solidFill>
                <a:latin typeface="Calibri"/>
              </a:rPr>
              <a:t>● You provide text, images, and video — Google's AI assembles and places the ads automatically</a:t>
            </a:r>
          </a:p>
          <a:p>
            <a:pPr>
              <a:spcAft>
                <a:spcPts val="800"/>
              </a:spcAft>
            </a:pPr>
            <a:r>
              <a:rPr sz="2200" b="1">
                <a:solidFill>
                  <a:srgbClr val="757575"/>
                </a:solidFill>
                <a:latin typeface="Calibri"/>
              </a:rPr>
              <a:t>● Best for: mobile app developers driving installs or engagement</a:t>
            </a:r>
          </a:p>
        </p:txBody>
      </p:sp>
      <p:sp>
        <p:nvSpPr>
          <p:cNvPr id="7" name="Rounded Rectangle 6"/>
          <p:cNvSpPr/>
          <p:nvPr/>
        </p:nvSpPr>
        <p:spPr>
          <a:xfrm>
            <a:off x="914400" y="4846320"/>
            <a:ext cx="10058400" cy="1280160"/>
          </a:xfrm>
          <a:prstGeom prst="roundRect">
            <a:avLst/>
          </a:prstGeom>
          <a:solidFill>
            <a:srgbClr val="9C27B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Example: A fitness app promoting installs across platforms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6 of 6</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009688"/>
                </a:solidFill>
                <a:latin typeface="Calibri"/>
              </a:rPr>
              <a:t>Performance Max</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1097280"/>
          </a:xfrm>
          <a:prstGeom prst="roundRect">
            <a:avLst/>
          </a:prstGeom>
          <a:solidFill>
            <a:srgbClr val="0096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One single campaign that spans ALL Google ad inventory (Search, Display, YouTube, Gmail, Maps, Discover) using AI.</a:t>
            </a:r>
          </a:p>
        </p:txBody>
      </p:sp>
      <p:sp>
        <p:nvSpPr>
          <p:cNvPr id="6" name="TextBox 5"/>
          <p:cNvSpPr txBox="1"/>
          <p:nvPr/>
        </p:nvSpPr>
        <p:spPr>
          <a:xfrm>
            <a:off x="548640" y="2834640"/>
            <a:ext cx="10972800" cy="1828800"/>
          </a:xfrm>
          <a:prstGeom prst="rect">
            <a:avLst/>
          </a:prstGeom>
          <a:noFill/>
        </p:spPr>
        <p:txBody>
          <a:bodyPr wrap="square">
            <a:spAutoFit/>
          </a:bodyPr>
          <a:lstStyle/>
          <a:p>
            <a:pPr>
              <a:spcAft>
                <a:spcPts val="800"/>
              </a:spcAft>
            </a:pPr>
            <a:r>
              <a:rPr sz="2200" b="1">
                <a:solidFill>
                  <a:srgbClr val="757575"/>
                </a:solidFill>
                <a:latin typeface="Calibri"/>
              </a:rPr>
              <a:t>● Uses your conversion goals + audience signals + creative assets to optimize automatically across every channel</a:t>
            </a:r>
          </a:p>
          <a:p>
            <a:pPr>
              <a:spcAft>
                <a:spcPts val="800"/>
              </a:spcAft>
            </a:pPr>
            <a:r>
              <a:rPr sz="2200" b="1">
                <a:solidFill>
                  <a:srgbClr val="757575"/>
                </a:solidFill>
                <a:latin typeface="Calibri"/>
              </a:rPr>
              <a:t>● Best for: advertisers wanting maximum reach with minimal manual channel management</a:t>
            </a:r>
          </a:p>
        </p:txBody>
      </p:sp>
      <p:sp>
        <p:nvSpPr>
          <p:cNvPr id="7" name="Rounded Rectangle 6"/>
          <p:cNvSpPr/>
          <p:nvPr/>
        </p:nvSpPr>
        <p:spPr>
          <a:xfrm>
            <a:off x="914400" y="4846320"/>
            <a:ext cx="10058400" cy="1280160"/>
          </a:xfrm>
          <a:prstGeom prst="roundRect">
            <a:avLst/>
          </a:prstGeom>
          <a:solidFill>
            <a:srgbClr val="0096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libri"/>
              </a:rPr>
              <a:t>Example: A shoe store letting Google auto-optimize across every channel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D93025"/>
        </a:solidFill>
        <a:effectLst/>
      </p:bgPr>
    </p:bg>
    <p:spTree>
      <p:nvGrpSpPr>
        <p:cNvPr id="1" name=""/>
        <p:cNvGrpSpPr/>
        <p:nvPr/>
      </p:nvGrpSpPr>
      <p:grpSpPr>
        <a:xfrm>
          <a:off x="0" y="0"/>
          <a:ext cx="0" cy="0"/>
          <a:chOff x="0" y="0"/>
          <a:chExt cx="0" cy="0"/>
        </a:xfrm>
      </p:grpSpPr>
      <p:sp>
        <p:nvSpPr>
          <p:cNvPr id="2" name="TextBox 1"/>
          <p:cNvSpPr txBox="1"/>
          <p:nvPr/>
        </p:nvSpPr>
        <p:spPr>
          <a:xfrm>
            <a:off x="914400" y="2743200"/>
            <a:ext cx="10332720" cy="1371600"/>
          </a:xfrm>
          <a:prstGeom prst="rect">
            <a:avLst/>
          </a:prstGeom>
          <a:noFill/>
        </p:spPr>
        <p:txBody>
          <a:bodyPr wrap="square">
            <a:spAutoFit/>
          </a:bodyPr>
          <a:lstStyle/>
          <a:p>
            <a:pPr algn="ctr"/>
            <a:r>
              <a:rPr sz="4800" b="1">
                <a:solidFill>
                  <a:srgbClr val="FFFFFF"/>
                </a:solidFill>
                <a:latin typeface="Calibri"/>
              </a:rPr>
              <a:t>Section 5: Bidding Strategies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9AB4D6-AFD5-F60F-1D9A-9CAD5210BF74}"/>
              </a:ext>
            </a:extLst>
          </p:cNvPr>
          <p:cNvSpPr txBox="1"/>
          <p:nvPr/>
        </p:nvSpPr>
        <p:spPr>
          <a:xfrm>
            <a:off x="658761" y="1752152"/>
            <a:ext cx="10953136" cy="2354491"/>
          </a:xfrm>
          <a:prstGeom prst="rect">
            <a:avLst/>
          </a:prstGeom>
          <a:noFill/>
        </p:spPr>
        <p:txBody>
          <a:bodyPr wrap="square">
            <a:spAutoFit/>
          </a:bodyPr>
          <a:lstStyle/>
          <a:p>
            <a:pPr marL="0" marR="0" indent="0" algn="l">
              <a:spcBef>
                <a:spcPts val="1875"/>
              </a:spcBef>
              <a:spcAft>
                <a:spcPts val="1125"/>
              </a:spcAft>
              <a:buFont typeface="Arial" panose="020B0604020202020204" pitchFamily="34" charset="0"/>
              <a:buChar char="•"/>
            </a:pPr>
            <a:r>
              <a:rPr lang="en-IN" b="0" i="0" spc="-15" dirty="0">
                <a:solidFill>
                  <a:srgbClr val="252525"/>
                </a:solidFill>
                <a:effectLst/>
                <a:latin typeface="Lora" panose="020F0502020204030204" pitchFamily="2" charset="0"/>
              </a:rPr>
              <a:t>What does the company view as success? Is it a specific ROAS, CPA, or conversion rate?</a:t>
            </a:r>
          </a:p>
          <a:p>
            <a:pPr marL="0" marR="0" indent="0" algn="l">
              <a:spcBef>
                <a:spcPts val="1875"/>
              </a:spcBef>
              <a:spcAft>
                <a:spcPts val="1125"/>
              </a:spcAft>
              <a:buFont typeface="Arial" panose="020B0604020202020204" pitchFamily="34" charset="0"/>
              <a:buChar char="•"/>
            </a:pPr>
            <a:r>
              <a:rPr lang="en-IN" b="0" i="0" spc="-15" dirty="0">
                <a:solidFill>
                  <a:srgbClr val="252525"/>
                </a:solidFill>
                <a:effectLst/>
                <a:latin typeface="Lora" panose="020F0502020204030204" pitchFamily="2" charset="0"/>
              </a:rPr>
              <a:t>What is the average lifetime value (LTV) of a user?</a:t>
            </a:r>
          </a:p>
          <a:p>
            <a:pPr marL="0" marR="0" indent="0" algn="l">
              <a:spcBef>
                <a:spcPts val="1875"/>
              </a:spcBef>
              <a:spcAft>
                <a:spcPts val="1125"/>
              </a:spcAft>
              <a:buFont typeface="Arial" panose="020B0604020202020204" pitchFamily="34" charset="0"/>
              <a:buChar char="•"/>
            </a:pPr>
            <a:r>
              <a:rPr lang="en-IN" b="0" i="0" spc="-15" dirty="0">
                <a:solidFill>
                  <a:srgbClr val="252525"/>
                </a:solidFill>
                <a:effectLst/>
                <a:latin typeface="Lora" panose="020F0502020204030204" pitchFamily="2" charset="0"/>
              </a:rPr>
              <a:t>What is the typical cost per acquisition (CPA) for a new user?</a:t>
            </a:r>
          </a:p>
          <a:p>
            <a:pPr marL="0" marR="0" indent="0" algn="l">
              <a:spcBef>
                <a:spcPts val="1875"/>
              </a:spcBef>
              <a:spcAft>
                <a:spcPts val="1125"/>
              </a:spcAft>
              <a:buFont typeface="Arial" panose="020B0604020202020204" pitchFamily="34" charset="0"/>
              <a:buChar char="•"/>
            </a:pPr>
            <a:r>
              <a:rPr lang="en-IN" b="0" i="0" spc="-15" dirty="0">
                <a:solidFill>
                  <a:srgbClr val="252525"/>
                </a:solidFill>
                <a:effectLst/>
                <a:latin typeface="Lora" panose="020F0502020204030204" pitchFamily="2" charset="0"/>
              </a:rPr>
              <a:t>Does a user purchase just once? Or are most customers repeat purchasers?</a:t>
            </a:r>
          </a:p>
        </p:txBody>
      </p:sp>
      <p:sp>
        <p:nvSpPr>
          <p:cNvPr id="5" name="Rounded Rectangle 4">
            <a:extLst>
              <a:ext uri="{FF2B5EF4-FFF2-40B4-BE49-F238E27FC236}">
                <a16:creationId xmlns:a16="http://schemas.microsoft.com/office/drawing/2014/main" id="{12AE40FB-35AE-86B3-D5A3-133273F55A2A}"/>
              </a:ext>
            </a:extLst>
          </p:cNvPr>
          <p:cNvSpPr/>
          <p:nvPr/>
        </p:nvSpPr>
        <p:spPr>
          <a:xfrm>
            <a:off x="502920" y="348554"/>
            <a:ext cx="11201400" cy="100584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lang="en-US" sz="2000" b="1" dirty="0">
                <a:solidFill>
                  <a:srgbClr val="FFFFFF"/>
                </a:solidFill>
                <a:latin typeface="Calibri"/>
              </a:rPr>
              <a:t>Before selecting a bidding strategy, seek out the answer to some of these questions:</a:t>
            </a:r>
          </a:p>
        </p:txBody>
      </p:sp>
      <p:sp>
        <p:nvSpPr>
          <p:cNvPr id="9" name="TextBox 8">
            <a:extLst>
              <a:ext uri="{FF2B5EF4-FFF2-40B4-BE49-F238E27FC236}">
                <a16:creationId xmlns:a16="http://schemas.microsoft.com/office/drawing/2014/main" id="{DCE02D1E-34A0-5AC2-FD0F-CE701430C308}"/>
              </a:ext>
            </a:extLst>
          </p:cNvPr>
          <p:cNvSpPr txBox="1"/>
          <p:nvPr/>
        </p:nvSpPr>
        <p:spPr>
          <a:xfrm>
            <a:off x="658760" y="5545598"/>
            <a:ext cx="11045559" cy="400110"/>
          </a:xfrm>
          <a:prstGeom prst="rect">
            <a:avLst/>
          </a:prstGeom>
          <a:noFill/>
        </p:spPr>
        <p:txBody>
          <a:bodyPr wrap="square">
            <a:spAutoFit/>
          </a:bodyPr>
          <a:lstStyle/>
          <a:p>
            <a:pPr marL="0" marR="0" indent="0" algn="l">
              <a:spcBef>
                <a:spcPts val="1875"/>
              </a:spcBef>
              <a:spcAft>
                <a:spcPts val="1125"/>
              </a:spcAft>
            </a:pPr>
            <a:r>
              <a:rPr lang="en-IN" sz="2000" b="0" i="0" spc="-15" dirty="0">
                <a:solidFill>
                  <a:srgbClr val="252525"/>
                </a:solidFill>
                <a:effectLst/>
                <a:latin typeface="Lora" pitchFamily="2" charset="0"/>
              </a:rPr>
              <a:t>Conversions ----------------------------- Traffic </a:t>
            </a:r>
            <a:r>
              <a:rPr lang="en-IN" sz="2000" spc="-15" dirty="0">
                <a:solidFill>
                  <a:srgbClr val="252525"/>
                </a:solidFill>
                <a:latin typeface="Lora" pitchFamily="2" charset="0"/>
              </a:rPr>
              <a:t>------------------------------- </a:t>
            </a:r>
            <a:r>
              <a:rPr lang="en-IN" sz="2000" b="0" i="0" spc="-15" dirty="0">
                <a:solidFill>
                  <a:srgbClr val="252525"/>
                </a:solidFill>
                <a:effectLst/>
                <a:latin typeface="Lora" pitchFamily="2" charset="0"/>
              </a:rPr>
              <a:t>Visibility</a:t>
            </a:r>
          </a:p>
        </p:txBody>
      </p:sp>
      <p:sp>
        <p:nvSpPr>
          <p:cNvPr id="11" name="Rounded Rectangle 4">
            <a:extLst>
              <a:ext uri="{FF2B5EF4-FFF2-40B4-BE49-F238E27FC236}">
                <a16:creationId xmlns:a16="http://schemas.microsoft.com/office/drawing/2014/main" id="{722912A6-DB49-BDE9-C356-FBBA9F1A910B}"/>
              </a:ext>
            </a:extLst>
          </p:cNvPr>
          <p:cNvSpPr/>
          <p:nvPr/>
        </p:nvSpPr>
        <p:spPr>
          <a:xfrm>
            <a:off x="410497" y="4296081"/>
            <a:ext cx="11201400" cy="100584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lang="en-US" sz="2000" b="1" dirty="0">
                <a:solidFill>
                  <a:srgbClr val="FFFFFF"/>
                </a:solidFill>
                <a:latin typeface="Calibri"/>
              </a:rPr>
              <a:t>When it comes to selecting a bidding strategy in Google Ads, choose one that aligns most with that particular campaign goal:</a:t>
            </a:r>
          </a:p>
        </p:txBody>
      </p:sp>
    </p:spTree>
    <p:extLst>
      <p:ext uri="{BB962C8B-B14F-4D97-AF65-F5344CB8AC3E}">
        <p14:creationId xmlns:p14="http://schemas.microsoft.com/office/powerpoint/2010/main" val="42799922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1 of 4</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1A73E8"/>
                </a:solidFill>
                <a:latin typeface="Calibri"/>
              </a:rPr>
              <a:t>Target CPA</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100584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Smart Bidding strategy that automatically sets bids to get as many conversions as possible at your target Cost-Per-Acquisition.</a:t>
            </a:r>
          </a:p>
        </p:txBody>
      </p:sp>
      <p:sp>
        <p:nvSpPr>
          <p:cNvPr id="6" name="Rectangle 5"/>
          <p:cNvSpPr/>
          <p:nvPr/>
        </p:nvSpPr>
        <p:spPr>
          <a:xfrm>
            <a:off x="548640" y="2697480"/>
            <a:ext cx="5120640" cy="914400"/>
          </a:xfrm>
          <a:prstGeom prst="rect">
            <a:avLst/>
          </a:prstGeom>
          <a:solidFill>
            <a:srgbClr val="EEEEE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202020"/>
                </a:solidFill>
                <a:latin typeface="Calibri"/>
              </a:rPr>
              <a:t>Goal: Conversions</a:t>
            </a:r>
          </a:p>
        </p:txBody>
      </p:sp>
      <p:sp>
        <p:nvSpPr>
          <p:cNvPr id="7" name="Rounded Rectangle 6"/>
          <p:cNvSpPr/>
          <p:nvPr/>
        </p:nvSpPr>
        <p:spPr>
          <a:xfrm>
            <a:off x="548640" y="3749039"/>
            <a:ext cx="10698480" cy="118872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FFFFFF"/>
                </a:solidFill>
                <a:latin typeface="Calibri"/>
              </a:rPr>
              <a:t>Example: Set Target CPA = $20 → Google bids to average $20 per conversion</a:t>
            </a:r>
          </a:p>
        </p:txBody>
      </p:sp>
      <p:sp>
        <p:nvSpPr>
          <p:cNvPr id="8" name="TextBox 7"/>
          <p:cNvSpPr txBox="1"/>
          <p:nvPr/>
        </p:nvSpPr>
        <p:spPr>
          <a:xfrm>
            <a:off x="548640" y="5212080"/>
            <a:ext cx="10698480" cy="914400"/>
          </a:xfrm>
          <a:prstGeom prst="rect">
            <a:avLst/>
          </a:prstGeom>
          <a:noFill/>
        </p:spPr>
        <p:txBody>
          <a:bodyPr wrap="square">
            <a:spAutoFit/>
          </a:bodyPr>
          <a:lstStyle/>
          <a:p>
            <a:pPr algn="l"/>
            <a:r>
              <a:rPr sz="1800" b="0" i="1">
                <a:solidFill>
                  <a:srgbClr val="757575"/>
                </a:solidFill>
                <a:latin typeface="Calibri"/>
              </a:rPr>
              <a:t>Best when you have enough conversion history (Google recommends 30+ conversions in the last 30 days)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2 of 4</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F58B00"/>
                </a:solidFill>
                <a:latin typeface="Calibri"/>
              </a:rPr>
              <a:t>Target ROAS</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1005840"/>
          </a:xfrm>
          <a:prstGeom prst="roundRect">
            <a:avLst/>
          </a:prstGeom>
          <a:solidFill>
            <a:srgbClr val="F58B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Smart Bidding strategy that sets bids to maximize conversion VALUE at your target Return On Ad Spend.</a:t>
            </a:r>
          </a:p>
        </p:txBody>
      </p:sp>
      <p:sp>
        <p:nvSpPr>
          <p:cNvPr id="6" name="Rectangle 5"/>
          <p:cNvSpPr/>
          <p:nvPr/>
        </p:nvSpPr>
        <p:spPr>
          <a:xfrm>
            <a:off x="548640" y="2697480"/>
            <a:ext cx="5120640" cy="914400"/>
          </a:xfrm>
          <a:prstGeom prst="rect">
            <a:avLst/>
          </a:prstGeom>
          <a:solidFill>
            <a:srgbClr val="EEEEE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202020"/>
                </a:solidFill>
                <a:latin typeface="Calibri"/>
              </a:rPr>
              <a:t>Goal: Conversions</a:t>
            </a:r>
          </a:p>
        </p:txBody>
      </p:sp>
      <p:sp>
        <p:nvSpPr>
          <p:cNvPr id="7" name="Rounded Rectangle 6"/>
          <p:cNvSpPr/>
          <p:nvPr/>
        </p:nvSpPr>
        <p:spPr>
          <a:xfrm>
            <a:off x="548640" y="3749039"/>
            <a:ext cx="10698480" cy="1188720"/>
          </a:xfrm>
          <a:prstGeom prst="roundRect">
            <a:avLst/>
          </a:prstGeom>
          <a:solidFill>
            <a:srgbClr val="F58B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FFFFFF"/>
                </a:solidFill>
                <a:latin typeface="Calibri"/>
              </a:rPr>
              <a:t>Example: Target ROAS = 400% → for every $1 spent, aim for $4 in revenue</a:t>
            </a:r>
          </a:p>
        </p:txBody>
      </p:sp>
      <p:sp>
        <p:nvSpPr>
          <p:cNvPr id="8" name="TextBox 7"/>
          <p:cNvSpPr txBox="1"/>
          <p:nvPr/>
        </p:nvSpPr>
        <p:spPr>
          <a:xfrm>
            <a:off x="548640" y="5212080"/>
            <a:ext cx="10698480" cy="914400"/>
          </a:xfrm>
          <a:prstGeom prst="rect">
            <a:avLst/>
          </a:prstGeom>
          <a:noFill/>
        </p:spPr>
        <p:txBody>
          <a:bodyPr wrap="square">
            <a:spAutoFit/>
          </a:bodyPr>
          <a:lstStyle/>
          <a:p>
            <a:pPr algn="l"/>
            <a:r>
              <a:rPr sz="1800" b="0" i="1">
                <a:solidFill>
                  <a:srgbClr val="757575"/>
                </a:solidFill>
                <a:latin typeface="Calibri"/>
              </a:rPr>
              <a:t>Best for e-commerce with varying product values/margins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3 of 4</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0F9D58"/>
                </a:solidFill>
                <a:latin typeface="Calibri"/>
              </a:rPr>
              <a:t>Maximize Clicks</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1005840"/>
          </a:xfrm>
          <a:prstGeom prst="roundRect">
            <a:avLst/>
          </a:prstGeom>
          <a:solidFill>
            <a:srgbClr val="0F9D5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Automated bidding that gets the most clicks possible within your set budget — no CPA/ROAS constraint.</a:t>
            </a:r>
          </a:p>
        </p:txBody>
      </p:sp>
      <p:sp>
        <p:nvSpPr>
          <p:cNvPr id="6" name="Rectangle 5"/>
          <p:cNvSpPr/>
          <p:nvPr/>
        </p:nvSpPr>
        <p:spPr>
          <a:xfrm>
            <a:off x="548640" y="2697480"/>
            <a:ext cx="5120640" cy="914400"/>
          </a:xfrm>
          <a:prstGeom prst="rect">
            <a:avLst/>
          </a:prstGeom>
          <a:solidFill>
            <a:srgbClr val="EEEEE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202020"/>
                </a:solidFill>
                <a:latin typeface="Calibri"/>
              </a:rPr>
              <a:t>Goal: Traffic</a:t>
            </a:r>
          </a:p>
        </p:txBody>
      </p:sp>
      <p:sp>
        <p:nvSpPr>
          <p:cNvPr id="7" name="Rounded Rectangle 6"/>
          <p:cNvSpPr/>
          <p:nvPr/>
        </p:nvSpPr>
        <p:spPr>
          <a:xfrm>
            <a:off x="548640" y="3749039"/>
            <a:ext cx="10698480" cy="1188720"/>
          </a:xfrm>
          <a:prstGeom prst="roundRect">
            <a:avLst/>
          </a:prstGeom>
          <a:solidFill>
            <a:srgbClr val="0F9D5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FFFFFF"/>
                </a:solidFill>
                <a:latin typeface="Calibri"/>
              </a:rPr>
              <a:t>Example: $100/day budget → Google spends it all chasing the highest possible click volume</a:t>
            </a:r>
          </a:p>
        </p:txBody>
      </p:sp>
      <p:sp>
        <p:nvSpPr>
          <p:cNvPr id="8" name="TextBox 7"/>
          <p:cNvSpPr txBox="1"/>
          <p:nvPr/>
        </p:nvSpPr>
        <p:spPr>
          <a:xfrm>
            <a:off x="548640" y="5212080"/>
            <a:ext cx="10698480" cy="914400"/>
          </a:xfrm>
          <a:prstGeom prst="rect">
            <a:avLst/>
          </a:prstGeom>
          <a:noFill/>
        </p:spPr>
        <p:txBody>
          <a:bodyPr wrap="square">
            <a:spAutoFit/>
          </a:bodyPr>
          <a:lstStyle/>
          <a:p>
            <a:pPr algn="l"/>
            <a:r>
              <a:rPr sz="1800" b="0" i="1">
                <a:solidFill>
                  <a:srgbClr val="757575"/>
                </a:solidFill>
                <a:latin typeface="Calibri"/>
              </a:rPr>
              <a:t>Best for driving website traffic/awareness when conversions aren't yet the priority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82880"/>
            <a:ext cx="2743200" cy="365760"/>
          </a:xfrm>
          <a:prstGeom prst="rect">
            <a:avLst/>
          </a:prstGeom>
          <a:noFill/>
        </p:spPr>
        <p:txBody>
          <a:bodyPr wrap="square">
            <a:spAutoFit/>
          </a:bodyPr>
          <a:lstStyle/>
          <a:p>
            <a:pPr algn="l"/>
            <a:r>
              <a:rPr sz="1400" b="1" i="0">
                <a:solidFill>
                  <a:srgbClr val="757575"/>
                </a:solidFill>
                <a:latin typeface="Calibri"/>
              </a:rPr>
              <a:t>TERM 4 of 4</a:t>
            </a:r>
          </a:p>
        </p:txBody>
      </p:sp>
      <p:sp>
        <p:nvSpPr>
          <p:cNvPr id="3" name="TextBox 2"/>
          <p:cNvSpPr txBox="1"/>
          <p:nvPr/>
        </p:nvSpPr>
        <p:spPr>
          <a:xfrm>
            <a:off x="457200" y="502920"/>
            <a:ext cx="11247120" cy="822960"/>
          </a:xfrm>
          <a:prstGeom prst="rect">
            <a:avLst/>
          </a:prstGeom>
          <a:noFill/>
        </p:spPr>
        <p:txBody>
          <a:bodyPr wrap="square">
            <a:spAutoFit/>
          </a:bodyPr>
          <a:lstStyle/>
          <a:p>
            <a:r>
              <a:rPr sz="3600" b="1">
                <a:solidFill>
                  <a:srgbClr val="9C27B0"/>
                </a:solidFill>
                <a:latin typeface="Calibri"/>
              </a:rPr>
              <a:t>Target Impression Share</a:t>
            </a:r>
          </a:p>
        </p:txBody>
      </p:sp>
      <p:sp>
        <p:nvSpPr>
          <p:cNvPr id="4" name="Rectangle 3"/>
          <p:cNvSpPr/>
          <p:nvPr/>
        </p:nvSpPr>
        <p:spPr>
          <a:xfrm>
            <a:off x="502920" y="128016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1201400" cy="1005840"/>
          </a:xfrm>
          <a:prstGeom prst="roundRect">
            <a:avLst/>
          </a:prstGeom>
          <a:solidFill>
            <a:srgbClr val="9C27B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000" b="1">
                <a:solidFill>
                  <a:srgbClr val="FFFFFF"/>
                </a:solidFill>
                <a:latin typeface="Calibri"/>
              </a:rPr>
              <a:t>DEFINITION: </a:t>
            </a:r>
            <a:r>
              <a:rPr sz="2000" b="0">
                <a:solidFill>
                  <a:srgbClr val="FFFFFF"/>
                </a:solidFill>
                <a:latin typeface="Calibri"/>
              </a:rPr>
              <a:t>Automated bidding that aims to show your ad in a specific position (e.g., top of page) a set % of the time.</a:t>
            </a:r>
          </a:p>
        </p:txBody>
      </p:sp>
      <p:sp>
        <p:nvSpPr>
          <p:cNvPr id="6" name="Rectangle 5"/>
          <p:cNvSpPr/>
          <p:nvPr/>
        </p:nvSpPr>
        <p:spPr>
          <a:xfrm>
            <a:off x="548640" y="2697480"/>
            <a:ext cx="5120640" cy="914400"/>
          </a:xfrm>
          <a:prstGeom prst="rect">
            <a:avLst/>
          </a:prstGeom>
          <a:solidFill>
            <a:srgbClr val="EEEEE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202020"/>
                </a:solidFill>
                <a:latin typeface="Calibri"/>
              </a:rPr>
              <a:t>Goal: Visibility/Awareness</a:t>
            </a:r>
          </a:p>
        </p:txBody>
      </p:sp>
      <p:sp>
        <p:nvSpPr>
          <p:cNvPr id="7" name="Rounded Rectangle 6"/>
          <p:cNvSpPr/>
          <p:nvPr/>
        </p:nvSpPr>
        <p:spPr>
          <a:xfrm>
            <a:off x="548640" y="3749039"/>
            <a:ext cx="10698480" cy="1188720"/>
          </a:xfrm>
          <a:prstGeom prst="roundRect">
            <a:avLst/>
          </a:prstGeom>
          <a:solidFill>
            <a:srgbClr val="9C27B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FFFFFF"/>
                </a:solidFill>
                <a:latin typeface="Calibri"/>
              </a:rPr>
              <a:t>Example: Target = 90% Top of Page → Google bids to appear at the top for 9 out of 10 eligible searches</a:t>
            </a:r>
          </a:p>
        </p:txBody>
      </p:sp>
      <p:sp>
        <p:nvSpPr>
          <p:cNvPr id="8" name="TextBox 7"/>
          <p:cNvSpPr txBox="1"/>
          <p:nvPr/>
        </p:nvSpPr>
        <p:spPr>
          <a:xfrm>
            <a:off x="548640" y="5212080"/>
            <a:ext cx="10698480" cy="914400"/>
          </a:xfrm>
          <a:prstGeom prst="rect">
            <a:avLst/>
          </a:prstGeom>
          <a:noFill/>
        </p:spPr>
        <p:txBody>
          <a:bodyPr wrap="square">
            <a:spAutoFit/>
          </a:bodyPr>
          <a:lstStyle/>
          <a:p>
            <a:pPr algn="l"/>
            <a:r>
              <a:rPr sz="1800" b="0" i="1">
                <a:solidFill>
                  <a:srgbClr val="757575"/>
                </a:solidFill>
                <a:latin typeface="Calibri"/>
              </a:rPr>
              <a:t>Best for brand awareness campaigns, e.g. branded search terms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9C27B0"/>
        </a:solidFill>
        <a:effectLst/>
      </p:bgPr>
    </p:bg>
    <p:spTree>
      <p:nvGrpSpPr>
        <p:cNvPr id="1" name=""/>
        <p:cNvGrpSpPr/>
        <p:nvPr/>
      </p:nvGrpSpPr>
      <p:grpSpPr>
        <a:xfrm>
          <a:off x="0" y="0"/>
          <a:ext cx="0" cy="0"/>
          <a:chOff x="0" y="0"/>
          <a:chExt cx="0" cy="0"/>
        </a:xfrm>
      </p:grpSpPr>
      <p:sp>
        <p:nvSpPr>
          <p:cNvPr id="2" name="TextBox 1"/>
          <p:cNvSpPr txBox="1"/>
          <p:nvPr/>
        </p:nvSpPr>
        <p:spPr>
          <a:xfrm>
            <a:off x="914400" y="2743200"/>
            <a:ext cx="10332720" cy="1371600"/>
          </a:xfrm>
          <a:prstGeom prst="rect">
            <a:avLst/>
          </a:prstGeom>
          <a:noFill/>
        </p:spPr>
        <p:txBody>
          <a:bodyPr wrap="square">
            <a:spAutoFit/>
          </a:bodyPr>
          <a:lstStyle/>
          <a:p>
            <a:pPr algn="ctr"/>
            <a:r>
              <a:rPr sz="4800" b="1">
                <a:solidFill>
                  <a:srgbClr val="FFFFFF"/>
                </a:solidFill>
                <a:latin typeface="Calibri"/>
              </a:rPr>
              <a:t>Section 6: Tracking, Setup &amp; Best Practices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1247120" cy="822960"/>
          </a:xfrm>
          <a:prstGeom prst="rect">
            <a:avLst/>
          </a:prstGeom>
          <a:noFill/>
        </p:spPr>
        <p:txBody>
          <a:bodyPr wrap="square">
            <a:spAutoFit/>
          </a:bodyPr>
          <a:lstStyle/>
          <a:p>
            <a:r>
              <a:rPr sz="3600" b="1">
                <a:solidFill>
                  <a:srgbClr val="F58B00"/>
                </a:solidFill>
                <a:latin typeface="Calibri"/>
              </a:rPr>
              <a:t>Google Ads Conversion Tracking</a:t>
            </a:r>
          </a:p>
        </p:txBody>
      </p:sp>
      <p:sp>
        <p:nvSpPr>
          <p:cNvPr id="3" name="Rectangle 2"/>
          <p:cNvSpPr/>
          <p:nvPr/>
        </p:nvSpPr>
        <p:spPr>
          <a:xfrm>
            <a:off x="502920" y="91440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417320"/>
            <a:ext cx="10972800" cy="5120640"/>
          </a:xfrm>
          <a:prstGeom prst="rect">
            <a:avLst/>
          </a:prstGeom>
          <a:noFill/>
        </p:spPr>
        <p:txBody>
          <a:bodyPr wrap="square">
            <a:spAutoFit/>
          </a:bodyPr>
          <a:lstStyle/>
          <a:p>
            <a:pPr>
              <a:spcAft>
                <a:spcPts val="800"/>
              </a:spcAft>
            </a:pPr>
            <a:r>
              <a:rPr sz="2000" b="1">
                <a:solidFill>
                  <a:srgbClr val="1A73E8"/>
                </a:solidFill>
                <a:latin typeface="Calibri"/>
              </a:rPr>
              <a:t>● Conversion tracking lets you analyze data to make informed optimizations</a:t>
            </a:r>
          </a:p>
          <a:p>
            <a:pPr>
              <a:spcAft>
                <a:spcPts val="800"/>
              </a:spcAft>
            </a:pPr>
            <a:r>
              <a:rPr sz="2000" b="1">
                <a:solidFill>
                  <a:srgbClr val="F58B00"/>
                </a:solidFill>
                <a:latin typeface="Calibri"/>
              </a:rPr>
              <a:t>● Method 1 — Google Analytics Linking:</a:t>
            </a:r>
          </a:p>
          <a:p>
            <a:pPr lvl="1">
              <a:spcAft>
                <a:spcPts val="800"/>
              </a:spcAft>
            </a:pPr>
            <a:r>
              <a:rPr sz="1600" b="0">
                <a:solidFill>
                  <a:srgbClr val="202020"/>
                </a:solidFill>
                <a:latin typeface="Calibri"/>
              </a:rPr>
              <a:t>– Go to Tools &amp; Settings &gt; Setup &gt; Linked Accounts</a:t>
            </a:r>
          </a:p>
          <a:p>
            <a:pPr lvl="1">
              <a:spcAft>
                <a:spcPts val="800"/>
              </a:spcAft>
            </a:pPr>
            <a:r>
              <a:rPr sz="1600" b="0">
                <a:solidFill>
                  <a:srgbClr val="202020"/>
                </a:solidFill>
                <a:latin typeface="Calibri"/>
              </a:rPr>
              <a:t>– Link Conversions, Apps, Customer Match, Lead Export, Store Sales</a:t>
            </a:r>
          </a:p>
          <a:p>
            <a:pPr lvl="1">
              <a:spcAft>
                <a:spcPts val="800"/>
              </a:spcAft>
            </a:pPr>
            <a:r>
              <a:rPr sz="1600" b="0">
                <a:solidFill>
                  <a:srgbClr val="202020"/>
                </a:solidFill>
                <a:latin typeface="Calibri"/>
              </a:rPr>
              <a:t>– Import conversions once linked to start measuring</a:t>
            </a:r>
          </a:p>
          <a:p>
            <a:pPr>
              <a:spcAft>
                <a:spcPts val="800"/>
              </a:spcAft>
            </a:pPr>
            <a:r>
              <a:rPr sz="2000" b="1">
                <a:solidFill>
                  <a:srgbClr val="009688"/>
                </a:solidFill>
                <a:latin typeface="Calibri"/>
              </a:rPr>
              <a:t>● Method 2 — Google Tag:</a:t>
            </a:r>
          </a:p>
          <a:p>
            <a:pPr lvl="1">
              <a:spcAft>
                <a:spcPts val="800"/>
              </a:spcAft>
            </a:pPr>
            <a:r>
              <a:rPr sz="1600" b="0">
                <a:solidFill>
                  <a:srgbClr val="202020"/>
                </a:solidFill>
                <a:latin typeface="Calibri"/>
              </a:rPr>
              <a:t>– Only ONE tag needed — avoid duplicate tags (causes false conversion counts)</a:t>
            </a:r>
          </a:p>
          <a:p>
            <a:pPr lvl="1">
              <a:spcAft>
                <a:spcPts val="800"/>
              </a:spcAft>
            </a:pPr>
            <a:r>
              <a:rPr sz="1600" b="0">
                <a:solidFill>
                  <a:srgbClr val="202020"/>
                </a:solidFill>
                <a:latin typeface="Calibri"/>
              </a:rPr>
              <a:t>– Install via website builder/CMS (Wix, Shopify) or manually</a:t>
            </a:r>
          </a:p>
          <a:p>
            <a:pPr lvl="1">
              <a:spcAft>
                <a:spcPts val="800"/>
              </a:spcAft>
            </a:pPr>
            <a:r>
              <a:rPr sz="1600" b="0">
                <a:solidFill>
                  <a:srgbClr val="202020"/>
                </a:solidFill>
                <a:latin typeface="Calibri"/>
              </a:rPr>
              <a:t>– Create Conversion Actions for purchases, signups, demo requests, etc.</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1247120" cy="822960"/>
          </a:xfrm>
          <a:prstGeom prst="rect">
            <a:avLst/>
          </a:prstGeom>
          <a:noFill/>
        </p:spPr>
        <p:txBody>
          <a:bodyPr wrap="square">
            <a:spAutoFit/>
          </a:bodyPr>
          <a:lstStyle/>
          <a:p>
            <a:r>
              <a:rPr sz="3600" b="1">
                <a:solidFill>
                  <a:srgbClr val="0F9D58"/>
                </a:solidFill>
                <a:latin typeface="Calibri"/>
              </a:rPr>
              <a:t>Getting Started with Google Ads</a:t>
            </a:r>
          </a:p>
        </p:txBody>
      </p:sp>
      <p:sp>
        <p:nvSpPr>
          <p:cNvPr id="3" name="Rectangle 2"/>
          <p:cNvSpPr/>
          <p:nvPr/>
        </p:nvSpPr>
        <p:spPr>
          <a:xfrm>
            <a:off x="502920" y="91440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65760" y="1828800"/>
            <a:ext cx="1828800" cy="1463040"/>
          </a:xfrm>
          <a:prstGeom prst="roundRect">
            <a:avLst/>
          </a:prstGeom>
          <a:solidFill>
            <a:srgbClr val="1A73E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1. Set Up
Account</a:t>
            </a:r>
          </a:p>
        </p:txBody>
      </p:sp>
      <p:sp>
        <p:nvSpPr>
          <p:cNvPr id="5" name="Right Arrow 4"/>
          <p:cNvSpPr/>
          <p:nvPr/>
        </p:nvSpPr>
        <p:spPr>
          <a:xfrm>
            <a:off x="2212848" y="2331720"/>
            <a:ext cx="91440" cy="457200"/>
          </a:xfrm>
          <a:prstGeom prst="rightArrow">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331720" y="1828800"/>
            <a:ext cx="1828800" cy="1463040"/>
          </a:xfrm>
          <a:prstGeom prst="roundRect">
            <a:avLst/>
          </a:prstGeom>
          <a:solidFill>
            <a:srgbClr val="F58B0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2. Add Business
Name &amp; Website</a:t>
            </a:r>
          </a:p>
        </p:txBody>
      </p:sp>
      <p:sp>
        <p:nvSpPr>
          <p:cNvPr id="7" name="Right Arrow 6"/>
          <p:cNvSpPr/>
          <p:nvPr/>
        </p:nvSpPr>
        <p:spPr>
          <a:xfrm>
            <a:off x="4178807" y="2331720"/>
            <a:ext cx="91440" cy="457200"/>
          </a:xfrm>
          <a:prstGeom prst="rightArrow">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297680" y="1828800"/>
            <a:ext cx="1828800" cy="1463040"/>
          </a:xfrm>
          <a:prstGeom prst="roundRect">
            <a:avLst/>
          </a:prstGeom>
          <a:solidFill>
            <a:srgbClr val="0F9D5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3. Link
Accounts
(Optional)</a:t>
            </a:r>
          </a:p>
        </p:txBody>
      </p:sp>
      <p:sp>
        <p:nvSpPr>
          <p:cNvPr id="9" name="Right Arrow 8"/>
          <p:cNvSpPr/>
          <p:nvPr/>
        </p:nvSpPr>
        <p:spPr>
          <a:xfrm>
            <a:off x="6144768" y="2331720"/>
            <a:ext cx="91440" cy="457200"/>
          </a:xfrm>
          <a:prstGeom prst="rightArrow">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63640" y="1828800"/>
            <a:ext cx="1828800" cy="1463040"/>
          </a:xfrm>
          <a:prstGeom prst="roundRect">
            <a:avLst/>
          </a:prstGeom>
          <a:solidFill>
            <a:srgbClr val="D93025"/>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4. Choose
Advertising Goal</a:t>
            </a:r>
          </a:p>
        </p:txBody>
      </p:sp>
      <p:sp>
        <p:nvSpPr>
          <p:cNvPr id="11" name="Right Arrow 10"/>
          <p:cNvSpPr/>
          <p:nvPr/>
        </p:nvSpPr>
        <p:spPr>
          <a:xfrm>
            <a:off x="8110727" y="2331720"/>
            <a:ext cx="91440" cy="457200"/>
          </a:xfrm>
          <a:prstGeom prst="rightArrow">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229600" y="1828800"/>
            <a:ext cx="1828800" cy="1463040"/>
          </a:xfrm>
          <a:prstGeom prst="roundRect">
            <a:avLst/>
          </a:prstGeom>
          <a:solidFill>
            <a:srgbClr val="9C27B0"/>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5. Write Ad
or Build from
Scratch</a:t>
            </a:r>
          </a:p>
        </p:txBody>
      </p:sp>
      <p:sp>
        <p:nvSpPr>
          <p:cNvPr id="13" name="Right Arrow 12"/>
          <p:cNvSpPr/>
          <p:nvPr/>
        </p:nvSpPr>
        <p:spPr>
          <a:xfrm>
            <a:off x="10076688" y="2331720"/>
            <a:ext cx="91440" cy="457200"/>
          </a:xfrm>
          <a:prstGeom prst="rightArrow">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195560" y="1828800"/>
            <a:ext cx="1828800" cy="1463040"/>
          </a:xfrm>
          <a:prstGeom prst="roundRect">
            <a:avLst/>
          </a:prstGeom>
          <a:solidFill>
            <a:srgbClr val="009688"/>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6. Input Billing
Information</a:t>
            </a:r>
          </a:p>
        </p:txBody>
      </p:sp>
      <p:sp>
        <p:nvSpPr>
          <p:cNvPr id="15" name="TextBox 14"/>
          <p:cNvSpPr txBox="1"/>
          <p:nvPr/>
        </p:nvSpPr>
        <p:spPr>
          <a:xfrm>
            <a:off x="548640" y="3840480"/>
            <a:ext cx="10972800" cy="2286000"/>
          </a:xfrm>
          <a:prstGeom prst="rect">
            <a:avLst/>
          </a:prstGeom>
          <a:noFill/>
        </p:spPr>
        <p:txBody>
          <a:bodyPr wrap="square">
            <a:spAutoFit/>
          </a:bodyPr>
          <a:lstStyle/>
          <a:p>
            <a:pPr>
              <a:spcAft>
                <a:spcPts val="800"/>
              </a:spcAft>
            </a:pPr>
            <a:r>
              <a:rPr sz="1900" b="1">
                <a:solidFill>
                  <a:srgbClr val="1A73E8"/>
                </a:solidFill>
                <a:latin typeface="Calibri"/>
              </a:rPr>
              <a:t>● Goal options: get calls, sales/leads, store visits, or YouTube views/engagement</a:t>
            </a:r>
          </a:p>
          <a:p>
            <a:pPr>
              <a:spcAft>
                <a:spcPts val="800"/>
              </a:spcAft>
            </a:pPr>
            <a:r>
              <a:rPr sz="1900" b="1">
                <a:solidFill>
                  <a:srgbClr val="F58B00"/>
                </a:solidFill>
                <a:latin typeface="Calibri"/>
              </a:rPr>
              <a:t>● Option A: Google's guided 'Smart' campaign (easy, less control)</a:t>
            </a:r>
          </a:p>
          <a:p>
            <a:pPr>
              <a:spcAft>
                <a:spcPts val="800"/>
              </a:spcAft>
            </a:pPr>
            <a:r>
              <a:rPr sz="1900" b="1">
                <a:solidFill>
                  <a:srgbClr val="0F9D58"/>
                </a:solidFill>
                <a:latin typeface="Calibri"/>
              </a:rPr>
              <a:t>● Option B: Click 'View more goal types' → 'Leave Campaign Creation' to build from scratch</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1247120" cy="822960"/>
          </a:xfrm>
          <a:prstGeom prst="rect">
            <a:avLst/>
          </a:prstGeom>
          <a:noFill/>
        </p:spPr>
        <p:txBody>
          <a:bodyPr wrap="square">
            <a:spAutoFit/>
          </a:bodyPr>
          <a:lstStyle/>
          <a:p>
            <a:r>
              <a:rPr sz="3600" b="1">
                <a:solidFill>
                  <a:srgbClr val="D93025"/>
                </a:solidFill>
                <a:latin typeface="Calibri"/>
              </a:rPr>
              <a:t>Google Ads Best Practices</a:t>
            </a:r>
          </a:p>
        </p:txBody>
      </p:sp>
      <p:sp>
        <p:nvSpPr>
          <p:cNvPr id="3" name="Rectangle 2"/>
          <p:cNvSpPr/>
          <p:nvPr/>
        </p:nvSpPr>
        <p:spPr>
          <a:xfrm>
            <a:off x="502920" y="91440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417320"/>
            <a:ext cx="10972800" cy="4572000"/>
          </a:xfrm>
          <a:prstGeom prst="rect">
            <a:avLst/>
          </a:prstGeom>
          <a:noFill/>
        </p:spPr>
        <p:txBody>
          <a:bodyPr wrap="square">
            <a:spAutoFit/>
          </a:bodyPr>
          <a:lstStyle/>
          <a:p>
            <a:pPr>
              <a:spcAft>
                <a:spcPts val="800"/>
              </a:spcAft>
            </a:pPr>
            <a:r>
              <a:rPr sz="2300" b="1">
                <a:solidFill>
                  <a:srgbClr val="1A73E8"/>
                </a:solidFill>
                <a:latin typeface="Calibri"/>
              </a:rPr>
              <a:t>● Keep user intent in mind with ad copy — mirror search queries to boost CTR &amp; Quality Score</a:t>
            </a:r>
          </a:p>
          <a:p>
            <a:pPr>
              <a:spcAft>
                <a:spcPts val="800"/>
              </a:spcAft>
            </a:pPr>
            <a:r>
              <a:rPr sz="2300" b="1">
                <a:solidFill>
                  <a:srgbClr val="F58B00"/>
                </a:solidFill>
                <a:latin typeface="Calibri"/>
              </a:rPr>
              <a:t>● Maximize ad space on the SERP — use sitelinks, lead forms, phone numbers to crowd out competitors</a:t>
            </a:r>
          </a:p>
          <a:p>
            <a:pPr>
              <a:spcAft>
                <a:spcPts val="800"/>
              </a:spcAft>
            </a:pPr>
            <a:r>
              <a:rPr sz="2300" b="1">
                <a:solidFill>
                  <a:srgbClr val="0F9D58"/>
                </a:solidFill>
                <a:latin typeface="Calibri"/>
              </a:rPr>
              <a:t>● Create a stellar landing page experience — fast load speed + clear call-to-action (CTA)</a:t>
            </a:r>
          </a:p>
          <a:p>
            <a:pPr>
              <a:spcAft>
                <a:spcPts val="800"/>
              </a:spcAft>
            </a:pPr>
            <a:r>
              <a:rPr sz="2300" b="1">
                <a:solidFill>
                  <a:srgbClr val="D93025"/>
                </a:solidFill>
                <a:latin typeface="Calibri"/>
              </a:rPr>
              <a:t>● Have a negative keyword strategy — use 'catch-all' &amp; branded negative lists at account level</a:t>
            </a:r>
          </a:p>
          <a:p>
            <a:pPr>
              <a:spcAft>
                <a:spcPts val="800"/>
              </a:spcAft>
            </a:pPr>
            <a:r>
              <a:rPr sz="2300" b="1">
                <a:solidFill>
                  <a:srgbClr val="9C27B0"/>
                </a:solidFill>
                <a:latin typeface="Calibri"/>
              </a:rPr>
              <a:t>● Review the Search Terms Report weekly to mine new negative keywords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01168"/>
            <a:ext cx="11247120" cy="822960"/>
          </a:xfrm>
          <a:prstGeom prst="rect">
            <a:avLst/>
          </a:prstGeom>
          <a:noFill/>
        </p:spPr>
        <p:txBody>
          <a:bodyPr wrap="square">
            <a:spAutoFit/>
          </a:bodyPr>
          <a:lstStyle/>
          <a:p>
            <a:r>
              <a:rPr sz="3600" b="1">
                <a:solidFill>
                  <a:srgbClr val="9C27B0"/>
                </a:solidFill>
                <a:latin typeface="Calibri"/>
              </a:rPr>
              <a:t>Key Takeaways</a:t>
            </a:r>
          </a:p>
        </p:txBody>
      </p:sp>
      <p:sp>
        <p:nvSpPr>
          <p:cNvPr id="3" name="Rectangle 2"/>
          <p:cNvSpPr/>
          <p:nvPr/>
        </p:nvSpPr>
        <p:spPr>
          <a:xfrm>
            <a:off x="502920" y="914400"/>
            <a:ext cx="2377440" cy="76200"/>
          </a:xfrm>
          <a:prstGeom prst="rect">
            <a:avLst/>
          </a:prstGeom>
          <a:solidFill>
            <a:srgbClr val="F5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417320"/>
            <a:ext cx="10972800" cy="4572000"/>
          </a:xfrm>
          <a:prstGeom prst="rect">
            <a:avLst/>
          </a:prstGeom>
          <a:noFill/>
        </p:spPr>
        <p:txBody>
          <a:bodyPr wrap="square">
            <a:spAutoFit/>
          </a:bodyPr>
          <a:lstStyle/>
          <a:p>
            <a:pPr>
              <a:spcAft>
                <a:spcPts val="800"/>
              </a:spcAft>
            </a:pPr>
            <a:r>
              <a:rPr sz="2400" b="1">
                <a:solidFill>
                  <a:srgbClr val="1A73E8"/>
                </a:solidFill>
                <a:latin typeface="Calibri"/>
              </a:rPr>
              <a:t>● Google Ads = paid platform reaching users across Search, Display, Shopping, Video, App</a:t>
            </a:r>
          </a:p>
          <a:p>
            <a:pPr>
              <a:spcAft>
                <a:spcPts val="800"/>
              </a:spcAft>
            </a:pPr>
            <a:r>
              <a:rPr sz="2400" b="1">
                <a:solidFill>
                  <a:srgbClr val="F58B00"/>
                </a:solidFill>
                <a:latin typeface="Calibri"/>
              </a:rPr>
              <a:t>● Works via real-time auction using CPC/CPM pricing, driven by Ad Rank</a:t>
            </a:r>
          </a:p>
          <a:p>
            <a:pPr>
              <a:spcAft>
                <a:spcPts val="800"/>
              </a:spcAft>
            </a:pPr>
            <a:r>
              <a:rPr sz="2400" b="1">
                <a:solidFill>
                  <a:srgbClr val="0F9D58"/>
                </a:solidFill>
                <a:latin typeface="Calibri"/>
              </a:rPr>
              <a:t>● Cost depends on your daily budget + Ad Rank (bid + Quality Score)</a:t>
            </a:r>
          </a:p>
          <a:p>
            <a:pPr>
              <a:spcAft>
                <a:spcPts val="800"/>
              </a:spcAft>
            </a:pPr>
            <a:r>
              <a:rPr sz="2400" b="1">
                <a:solidFill>
                  <a:srgbClr val="D93025"/>
                </a:solidFill>
                <a:latin typeface="Calibri"/>
              </a:rPr>
              <a:t>● Choose bidding strategy based on goal: conversions, traffic, or visibility</a:t>
            </a:r>
          </a:p>
          <a:p>
            <a:pPr>
              <a:spcAft>
                <a:spcPts val="800"/>
              </a:spcAft>
            </a:pPr>
            <a:r>
              <a:rPr sz="2400" b="1">
                <a:solidFill>
                  <a:srgbClr val="9C27B0"/>
                </a:solidFill>
                <a:latin typeface="Calibri"/>
              </a:rPr>
              <a:t>● Set up conversion tracking BEFORE launching any campaign</a:t>
            </a:r>
          </a:p>
          <a:p>
            <a:pPr>
              <a:spcAft>
                <a:spcPts val="800"/>
              </a:spcAft>
            </a:pPr>
            <a:r>
              <a:rPr sz="2400" b="1">
                <a:solidFill>
                  <a:srgbClr val="009688"/>
                </a:solidFill>
                <a:latin typeface="Calibri"/>
              </a:rPr>
              <a:t>● Success = ad relevance + landing page experience + continuous optimization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30</TotalTime>
  <Words>5883</Words>
  <Application>Microsoft Office PowerPoint</Application>
  <PresentationFormat>Widescreen</PresentationFormat>
  <Paragraphs>302</Paragraphs>
  <Slides>41</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Lora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Abhisek Dutta</dc:creator>
  <cp:keywords/>
  <dc:description>generated using python-pptx</dc:description>
  <cp:lastModifiedBy>Abhisek Dutta</cp:lastModifiedBy>
  <cp:revision>3</cp:revision>
  <dcterms:created xsi:type="dcterms:W3CDTF">2013-01-27T09:14:16Z</dcterms:created>
  <dcterms:modified xsi:type="dcterms:W3CDTF">2026-07-23T17:35:56Z</dcterms:modified>
  <cp:category/>
</cp:coreProperties>
</file>