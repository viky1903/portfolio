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20142207"/>
              </p:ext>
            </p:extLst>
          </p:nvPr>
        </p:nvGraphicFramePr>
        <p:xfrm>
          <a:off x="647114" y="1164541"/>
          <a:ext cx="10691445" cy="5363164"/>
        </p:xfrm>
        <a:graphic>
          <a:graphicData uri="http://schemas.openxmlformats.org/drawingml/2006/table">
            <a:tbl>
              <a:tblPr firstRow="1" firstCol="1" bandRow="1">
                <a:tableStyleId>{5C22544A-7EE6-4342-B048-85BDC9FD1C3A}</a:tableStyleId>
              </a:tblPr>
              <a:tblGrid>
                <a:gridCol w="2644726">
                  <a:extLst>
                    <a:ext uri="{9D8B030D-6E8A-4147-A177-3AD203B41FA5}">
                      <a16:colId xmlns:a16="http://schemas.microsoft.com/office/drawing/2014/main" val="3849551330"/>
                    </a:ext>
                  </a:extLst>
                </a:gridCol>
                <a:gridCol w="4417255">
                  <a:extLst>
                    <a:ext uri="{9D8B030D-6E8A-4147-A177-3AD203B41FA5}">
                      <a16:colId xmlns:a16="http://schemas.microsoft.com/office/drawing/2014/main" val="3967611751"/>
                    </a:ext>
                  </a:extLst>
                </a:gridCol>
                <a:gridCol w="3629464">
                  <a:extLst>
                    <a:ext uri="{9D8B030D-6E8A-4147-A177-3AD203B41FA5}">
                      <a16:colId xmlns:a16="http://schemas.microsoft.com/office/drawing/2014/main" val="555063426"/>
                    </a:ext>
                  </a:extLst>
                </a:gridCol>
              </a:tblGrid>
              <a:tr h="389962">
                <a:tc>
                  <a:txBody>
                    <a:bodyPr/>
                    <a:lstStyle/>
                    <a:p>
                      <a:pPr>
                        <a:lnSpc>
                          <a:spcPct val="115000"/>
                        </a:lnSpc>
                        <a:spcAft>
                          <a:spcPts val="0"/>
                        </a:spcAft>
                      </a:pPr>
                      <a:r>
                        <a:rPr lang="en-US" sz="2000">
                          <a:effectLst/>
                        </a:rPr>
                        <a:t>KPI</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dirty="0">
                          <a:effectLst/>
                        </a:rPr>
                        <a:t>Formula</a:t>
                      </a:r>
                      <a:endParaRPr lang="en-US" sz="2400" dirty="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Interpretation</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928163104"/>
                  </a:ext>
                </a:extLst>
              </a:tr>
              <a:tr h="806561">
                <a:tc>
                  <a:txBody>
                    <a:bodyPr/>
                    <a:lstStyle/>
                    <a:p>
                      <a:pPr>
                        <a:lnSpc>
                          <a:spcPct val="115000"/>
                        </a:lnSpc>
                        <a:spcAft>
                          <a:spcPts val="0"/>
                        </a:spcAft>
                      </a:pPr>
                      <a:r>
                        <a:rPr lang="en-US" sz="2000">
                          <a:effectLst/>
                        </a:rPr>
                        <a:t>CTR</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Clicks ÷ Impressions × 100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How effectively an ad/search result attracts clicks.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3699639751"/>
                  </a:ext>
                </a:extLst>
              </a:tr>
              <a:tr h="389962">
                <a:tc>
                  <a:txBody>
                    <a:bodyPr/>
                    <a:lstStyle/>
                    <a:p>
                      <a:pPr>
                        <a:lnSpc>
                          <a:spcPct val="115000"/>
                        </a:lnSpc>
                        <a:spcAft>
                          <a:spcPts val="0"/>
                        </a:spcAft>
                      </a:pPr>
                      <a:r>
                        <a:rPr lang="en-US" sz="2000">
                          <a:effectLst/>
                        </a:rPr>
                        <a:t>CPC</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Ad Spend ÷ Clicks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Average cost of one click.</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3588753602"/>
                  </a:ext>
                </a:extLst>
              </a:tr>
              <a:tr h="806561">
                <a:tc>
                  <a:txBody>
                    <a:bodyPr/>
                    <a:lstStyle/>
                    <a:p>
                      <a:pPr>
                        <a:lnSpc>
                          <a:spcPct val="115000"/>
                        </a:lnSpc>
                        <a:spcAft>
                          <a:spcPts val="0"/>
                        </a:spcAft>
                      </a:pPr>
                      <a:r>
                        <a:rPr lang="en-US" sz="2000">
                          <a:effectLst/>
                        </a:rPr>
                        <a:t>Conversion Rate</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Conversions ÷ Clicks (or sessions) × 100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How effectively traffic produces the desired action.</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896628805"/>
                  </a:ext>
                </a:extLst>
              </a:tr>
              <a:tr h="389962">
                <a:tc>
                  <a:txBody>
                    <a:bodyPr/>
                    <a:lstStyle/>
                    <a:p>
                      <a:pPr>
                        <a:lnSpc>
                          <a:spcPct val="115000"/>
                        </a:lnSpc>
                        <a:spcAft>
                          <a:spcPts val="0"/>
                        </a:spcAft>
                      </a:pPr>
                      <a:r>
                        <a:rPr lang="en-US" sz="2000">
                          <a:effectLst/>
                        </a:rPr>
                        <a:t>CPA / Cost per Conversion</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Ad Spend ÷ Conversions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dirty="0">
                          <a:effectLst/>
                        </a:rPr>
                        <a:t>Average cost of acquiring one conversion.</a:t>
                      </a:r>
                      <a:endParaRPr lang="en-US" sz="2400" dirty="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860086317"/>
                  </a:ext>
                </a:extLst>
              </a:tr>
              <a:tr h="389962">
                <a:tc>
                  <a:txBody>
                    <a:bodyPr/>
                    <a:lstStyle/>
                    <a:p>
                      <a:pPr>
                        <a:lnSpc>
                          <a:spcPct val="115000"/>
                        </a:lnSpc>
                        <a:spcAft>
                          <a:spcPts val="0"/>
                        </a:spcAft>
                      </a:pPr>
                      <a:r>
                        <a:rPr lang="en-US" sz="2000">
                          <a:effectLst/>
                        </a:rPr>
                        <a:t>ROAS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Conversion Value ÷ Ad Spend</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Revenue/value generated per ₹1 of ad spend.</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556174011"/>
                  </a:ext>
                </a:extLst>
              </a:tr>
              <a:tr h="806561">
                <a:tc>
                  <a:txBody>
                    <a:bodyPr/>
                    <a:lstStyle/>
                    <a:p>
                      <a:pPr>
                        <a:lnSpc>
                          <a:spcPct val="115000"/>
                        </a:lnSpc>
                        <a:spcAft>
                          <a:spcPts val="0"/>
                        </a:spcAft>
                      </a:pPr>
                      <a:r>
                        <a:rPr lang="en-US" sz="2000">
                          <a:effectLst/>
                        </a:rPr>
                        <a:t>ROI</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(Gain − Cost) ÷ Cost × 100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Return relative to investment; use profit where possible.</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000654547"/>
                  </a:ext>
                </a:extLst>
              </a:tr>
              <a:tr h="806561">
                <a:tc>
                  <a:txBody>
                    <a:bodyPr/>
                    <a:lstStyle/>
                    <a:p>
                      <a:pPr>
                        <a:lnSpc>
                          <a:spcPct val="115000"/>
                        </a:lnSpc>
                        <a:spcAft>
                          <a:spcPts val="0"/>
                        </a:spcAft>
                      </a:pPr>
                      <a:r>
                        <a:rPr lang="en-US" sz="2000">
                          <a:effectLst/>
                        </a:rPr>
                        <a:t>SEO ROI</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(SEO-attributed value − SEO cost) ÷ SEO cost × 100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dirty="0">
                          <a:effectLst/>
                        </a:rPr>
                        <a:t>Economic return from SEO; attribution must be defensible.</a:t>
                      </a:r>
                      <a:endParaRPr lang="en-US" sz="2400" dirty="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202178540"/>
                  </a:ext>
                </a:extLst>
              </a:tr>
            </a:tbl>
          </a:graphicData>
        </a:graphic>
      </p:graphicFrame>
      <p:sp>
        <p:nvSpPr>
          <p:cNvPr id="3" name="Rectangle 1"/>
          <p:cNvSpPr>
            <a:spLocks noChangeArrowheads="1"/>
          </p:cNvSpPr>
          <p:nvPr/>
        </p:nvSpPr>
        <p:spPr bwMode="auto">
          <a:xfrm>
            <a:off x="491734" y="284289"/>
            <a:ext cx="9862088" cy="615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04704"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65F91"/>
                </a:solidFill>
                <a:effectLst/>
                <a:latin typeface="Calibri" panose="020F0502020204030204" pitchFamily="34" charset="0"/>
                <a:ea typeface="MS Gothic" panose="020B0609070205080204" pitchFamily="49" charset="-128"/>
                <a:cs typeface="Times New Roman" panose="02020603050405020304" pitchFamily="18" charset="0"/>
              </a:rPr>
              <a:t>Quick Formula Sheet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2789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1 — Traffic Increased, but Sales Did Not</a:t>
            </a:r>
          </a:p>
        </p:txBody>
      </p:sp>
      <p:sp>
        <p:nvSpPr>
          <p:cNvPr id="4" name="TextBox 3"/>
          <p:cNvSpPr txBox="1"/>
          <p:nvPr/>
        </p:nvSpPr>
        <p:spPr>
          <a:xfrm>
            <a:off x="822960" y="1234440"/>
            <a:ext cx="10515600" cy="615553"/>
          </a:xfrm>
          <a:prstGeom prst="rect">
            <a:avLst/>
          </a:prstGeom>
          <a:noFill/>
        </p:spPr>
        <p:txBody>
          <a:bodyPr wrap="square">
            <a:spAutoFit/>
          </a:bodyPr>
          <a:lstStyle/>
          <a:p>
            <a:pPr algn="l"/>
            <a:r>
              <a:rPr sz="1700" b="0" dirty="0">
                <a:solidFill>
                  <a:srgbClr val="4B4B4B"/>
                </a:solidFill>
                <a:latin typeface="Aptos"/>
              </a:rPr>
              <a:t>CASE
An e-commerce website reports:</a:t>
            </a:r>
          </a:p>
        </p:txBody>
      </p:sp>
      <p:sp>
        <p:nvSpPr>
          <p:cNvPr id="5" name="Rounded Rectangle 4"/>
          <p:cNvSpPr/>
          <p:nvPr/>
        </p:nvSpPr>
        <p:spPr>
          <a:xfrm>
            <a:off x="685800" y="3770141"/>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4090181"/>
            <a:ext cx="10287000" cy="1691640"/>
          </a:xfrm>
          <a:prstGeom prst="rect">
            <a:avLst/>
          </a:prstGeom>
          <a:noFill/>
        </p:spPr>
        <p:txBody>
          <a:bodyPr wrap="square">
            <a:spAutoFit/>
          </a:bodyPr>
          <a:lstStyle/>
          <a:p>
            <a:pPr algn="l"/>
            <a:r>
              <a:rPr sz="1900" b="1">
                <a:solidFill>
                  <a:srgbClr val="192D41"/>
                </a:solidFill>
                <a:latin typeface="Aptos"/>
              </a:rPr>
              <a:t>QUESTION
How would you evaluate the change in SEO performance? Calculate the organic conversion rate for both months and explain what the traffic, conversion and revenue trends imply.</a:t>
            </a:r>
          </a:p>
        </p:txBody>
      </p:sp>
      <p:graphicFrame>
        <p:nvGraphicFramePr>
          <p:cNvPr id="7" name="Table 6"/>
          <p:cNvGraphicFramePr>
            <a:graphicFrameLocks noGrp="1"/>
          </p:cNvGraphicFramePr>
          <p:nvPr>
            <p:extLst>
              <p:ext uri="{D42A27DB-BD31-4B8C-83A1-F6EECF244321}">
                <p14:modId xmlns:p14="http://schemas.microsoft.com/office/powerpoint/2010/main" val="211627888"/>
              </p:ext>
            </p:extLst>
          </p:nvPr>
        </p:nvGraphicFramePr>
        <p:xfrm>
          <a:off x="822960" y="1917335"/>
          <a:ext cx="10698480" cy="1639890"/>
        </p:xfrm>
        <a:graphic>
          <a:graphicData uri="http://schemas.openxmlformats.org/drawingml/2006/table">
            <a:tbl>
              <a:tblPr firstRow="1" firstCol="1" bandRow="1">
                <a:tableStyleId>{5C22544A-7EE6-4342-B048-85BDC9FD1C3A}</a:tableStyleId>
              </a:tblPr>
              <a:tblGrid>
                <a:gridCol w="3566160">
                  <a:extLst>
                    <a:ext uri="{9D8B030D-6E8A-4147-A177-3AD203B41FA5}">
                      <a16:colId xmlns:a16="http://schemas.microsoft.com/office/drawing/2014/main" val="1611385633"/>
                    </a:ext>
                  </a:extLst>
                </a:gridCol>
                <a:gridCol w="3566160">
                  <a:extLst>
                    <a:ext uri="{9D8B030D-6E8A-4147-A177-3AD203B41FA5}">
                      <a16:colId xmlns:a16="http://schemas.microsoft.com/office/drawing/2014/main" val="3928497181"/>
                    </a:ext>
                  </a:extLst>
                </a:gridCol>
                <a:gridCol w="3566160">
                  <a:extLst>
                    <a:ext uri="{9D8B030D-6E8A-4147-A177-3AD203B41FA5}">
                      <a16:colId xmlns:a16="http://schemas.microsoft.com/office/drawing/2014/main" val="2375486343"/>
                    </a:ext>
                  </a:extLst>
                </a:gridCol>
              </a:tblGrid>
              <a:tr h="322731">
                <a:tc>
                  <a:txBody>
                    <a:bodyPr/>
                    <a:lstStyle/>
                    <a:p>
                      <a:pPr>
                        <a:lnSpc>
                          <a:spcPct val="115000"/>
                        </a:lnSpc>
                        <a:spcAft>
                          <a:spcPts val="0"/>
                        </a:spcAft>
                      </a:pPr>
                      <a:r>
                        <a:rPr lang="en-US" sz="2000">
                          <a:effectLst/>
                        </a:rPr>
                        <a:t>KPI</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January</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February</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2378295271"/>
                  </a:ext>
                </a:extLst>
              </a:tr>
              <a:tr h="322731">
                <a:tc>
                  <a:txBody>
                    <a:bodyPr/>
                    <a:lstStyle/>
                    <a:p>
                      <a:pPr>
                        <a:lnSpc>
                          <a:spcPct val="115000"/>
                        </a:lnSpc>
                        <a:spcAft>
                          <a:spcPts val="0"/>
                        </a:spcAft>
                      </a:pPr>
                      <a:r>
                        <a:rPr lang="en-US" sz="2000">
                          <a:effectLst/>
                        </a:rPr>
                        <a:t>Organic sessions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40,000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60,000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236657446"/>
                  </a:ext>
                </a:extLst>
              </a:tr>
              <a:tr h="322731">
                <a:tc>
                  <a:txBody>
                    <a:bodyPr/>
                    <a:lstStyle/>
                    <a:p>
                      <a:pPr>
                        <a:lnSpc>
                          <a:spcPct val="115000"/>
                        </a:lnSpc>
                        <a:spcAft>
                          <a:spcPts val="0"/>
                        </a:spcAft>
                      </a:pPr>
                      <a:r>
                        <a:rPr lang="en-US" sz="2000">
                          <a:effectLst/>
                        </a:rPr>
                        <a:t>Organic users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32,000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47,000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2932458881"/>
                  </a:ext>
                </a:extLst>
              </a:tr>
              <a:tr h="322731">
                <a:tc>
                  <a:txBody>
                    <a:bodyPr/>
                    <a:lstStyle/>
                    <a:p>
                      <a:pPr>
                        <a:lnSpc>
                          <a:spcPct val="115000"/>
                        </a:lnSpc>
                        <a:spcAft>
                          <a:spcPts val="0"/>
                        </a:spcAft>
                      </a:pPr>
                      <a:r>
                        <a:rPr lang="en-US" sz="2000">
                          <a:effectLst/>
                        </a:rPr>
                        <a:t>Organic conversions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1,200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1,260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623426261"/>
                  </a:ext>
                </a:extLst>
              </a:tr>
              <a:tr h="322731">
                <a:tc>
                  <a:txBody>
                    <a:bodyPr/>
                    <a:lstStyle/>
                    <a:p>
                      <a:pPr>
                        <a:lnSpc>
                          <a:spcPct val="115000"/>
                        </a:lnSpc>
                        <a:spcAft>
                          <a:spcPts val="0"/>
                        </a:spcAft>
                      </a:pPr>
                      <a:r>
                        <a:rPr lang="en-US" sz="2000">
                          <a:effectLst/>
                        </a:rPr>
                        <a:t>Organic revenue</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₹12 lakh</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dirty="0">
                          <a:effectLst/>
                        </a:rPr>
                        <a:t>₹13 lakh</a:t>
                      </a:r>
                      <a:endParaRPr lang="en-US" sz="2400" dirty="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250134354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2 — SEO Ranking vs Business Performance</a:t>
            </a:r>
          </a:p>
        </p:txBody>
      </p:sp>
      <p:sp>
        <p:nvSpPr>
          <p:cNvPr id="4" name="TextBox 3"/>
          <p:cNvSpPr txBox="1"/>
          <p:nvPr/>
        </p:nvSpPr>
        <p:spPr>
          <a:xfrm>
            <a:off x="822960" y="1234440"/>
            <a:ext cx="10515600" cy="877163"/>
          </a:xfrm>
          <a:prstGeom prst="rect">
            <a:avLst/>
          </a:prstGeom>
          <a:noFill/>
        </p:spPr>
        <p:txBody>
          <a:bodyPr wrap="square">
            <a:spAutoFit/>
          </a:bodyPr>
          <a:lstStyle/>
          <a:p>
            <a:pPr algn="l"/>
            <a:r>
              <a:rPr sz="1700" b="0" dirty="0">
                <a:solidFill>
                  <a:srgbClr val="4B4B4B"/>
                </a:solidFill>
                <a:latin typeface="Aptos"/>
              </a:rPr>
              <a:t>CASE
An SEO manager says: “Our campaign is successful because our target keyword moved from position 11 to position 3.”</a:t>
            </a:r>
          </a:p>
        </p:txBody>
      </p:sp>
      <p:sp>
        <p:nvSpPr>
          <p:cNvPr id="5" name="Rounded Rectangle 4"/>
          <p:cNvSpPr/>
          <p:nvPr/>
        </p:nvSpPr>
        <p:spPr>
          <a:xfrm>
            <a:off x="685800" y="3977639"/>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4386347"/>
            <a:ext cx="10287000" cy="1691640"/>
          </a:xfrm>
          <a:prstGeom prst="rect">
            <a:avLst/>
          </a:prstGeom>
          <a:noFill/>
        </p:spPr>
        <p:txBody>
          <a:bodyPr wrap="square">
            <a:spAutoFit/>
          </a:bodyPr>
          <a:lstStyle/>
          <a:p>
            <a:pPr algn="l"/>
            <a:r>
              <a:rPr sz="1900" b="1" dirty="0">
                <a:solidFill>
                  <a:srgbClr val="192D41"/>
                </a:solidFill>
                <a:latin typeface="Aptos"/>
              </a:rPr>
              <a:t>QUESTION
Is ranking improvement sufficient evidence of SEO success, and which keyword should the company prioritize? Justify your answer using business-oriented SEO KPIs.</a:t>
            </a:r>
          </a:p>
        </p:txBody>
      </p:sp>
      <p:graphicFrame>
        <p:nvGraphicFramePr>
          <p:cNvPr id="7" name="Table 6"/>
          <p:cNvGraphicFramePr>
            <a:graphicFrameLocks noGrp="1"/>
          </p:cNvGraphicFramePr>
          <p:nvPr>
            <p:extLst>
              <p:ext uri="{D42A27DB-BD31-4B8C-83A1-F6EECF244321}">
                <p14:modId xmlns:p14="http://schemas.microsoft.com/office/powerpoint/2010/main" val="2115201774"/>
              </p:ext>
            </p:extLst>
          </p:nvPr>
        </p:nvGraphicFramePr>
        <p:xfrm>
          <a:off x="960120" y="2236765"/>
          <a:ext cx="10378440" cy="1327888"/>
        </p:xfrm>
        <a:graphic>
          <a:graphicData uri="http://schemas.openxmlformats.org/drawingml/2006/table">
            <a:tbl>
              <a:tblPr firstRow="1" firstCol="1" bandRow="1">
                <a:tableStyleId>{5C22544A-7EE6-4342-B048-85BDC9FD1C3A}</a:tableStyleId>
              </a:tblPr>
              <a:tblGrid>
                <a:gridCol w="2075688">
                  <a:extLst>
                    <a:ext uri="{9D8B030D-6E8A-4147-A177-3AD203B41FA5}">
                      <a16:colId xmlns:a16="http://schemas.microsoft.com/office/drawing/2014/main" val="1968860147"/>
                    </a:ext>
                  </a:extLst>
                </a:gridCol>
                <a:gridCol w="2075688">
                  <a:extLst>
                    <a:ext uri="{9D8B030D-6E8A-4147-A177-3AD203B41FA5}">
                      <a16:colId xmlns:a16="http://schemas.microsoft.com/office/drawing/2014/main" val="2114894594"/>
                    </a:ext>
                  </a:extLst>
                </a:gridCol>
                <a:gridCol w="2075688">
                  <a:extLst>
                    <a:ext uri="{9D8B030D-6E8A-4147-A177-3AD203B41FA5}">
                      <a16:colId xmlns:a16="http://schemas.microsoft.com/office/drawing/2014/main" val="2476760590"/>
                    </a:ext>
                  </a:extLst>
                </a:gridCol>
                <a:gridCol w="2075688">
                  <a:extLst>
                    <a:ext uri="{9D8B030D-6E8A-4147-A177-3AD203B41FA5}">
                      <a16:colId xmlns:a16="http://schemas.microsoft.com/office/drawing/2014/main" val="3758632348"/>
                    </a:ext>
                  </a:extLst>
                </a:gridCol>
                <a:gridCol w="2075688">
                  <a:extLst>
                    <a:ext uri="{9D8B030D-6E8A-4147-A177-3AD203B41FA5}">
                      <a16:colId xmlns:a16="http://schemas.microsoft.com/office/drawing/2014/main" val="1805659082"/>
                    </a:ext>
                  </a:extLst>
                </a:gridCol>
              </a:tblGrid>
              <a:tr h="331972">
                <a:tc>
                  <a:txBody>
                    <a:bodyPr/>
                    <a:lstStyle/>
                    <a:p>
                      <a:pPr>
                        <a:lnSpc>
                          <a:spcPct val="115000"/>
                        </a:lnSpc>
                        <a:spcAft>
                          <a:spcPts val="0"/>
                        </a:spcAft>
                      </a:pPr>
                      <a:r>
                        <a:rPr lang="en-US" sz="1800">
                          <a:effectLst/>
                        </a:rPr>
                        <a:t>Keyword</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Previous Position</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dirty="0">
                          <a:effectLst/>
                        </a:rPr>
                        <a:t>Current Position</a:t>
                      </a:r>
                      <a:endParaRPr lang="en-US" sz="2000" dirty="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Monthly Searches</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Conversions</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452475407"/>
                  </a:ext>
                </a:extLst>
              </a:tr>
              <a:tr h="331972">
                <a:tc>
                  <a:txBody>
                    <a:bodyPr/>
                    <a:lstStyle/>
                    <a:p>
                      <a:pPr>
                        <a:lnSpc>
                          <a:spcPct val="115000"/>
                        </a:lnSpc>
                        <a:spcAft>
                          <a:spcPts val="0"/>
                        </a:spcAft>
                      </a:pPr>
                      <a:r>
                        <a:rPr lang="en-US" sz="1800">
                          <a:effectLst/>
                        </a:rPr>
                        <a:t>MBA Hyderabad</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11</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3</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10,000</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80</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4238308098"/>
                  </a:ext>
                </a:extLst>
              </a:tr>
              <a:tr h="331972">
                <a:tc>
                  <a:txBody>
                    <a:bodyPr/>
                    <a:lstStyle/>
                    <a:p>
                      <a:pPr>
                        <a:lnSpc>
                          <a:spcPct val="115000"/>
                        </a:lnSpc>
                        <a:spcAft>
                          <a:spcPts val="0"/>
                        </a:spcAft>
                      </a:pPr>
                      <a:r>
                        <a:rPr lang="en-US" sz="1800">
                          <a:effectLst/>
                        </a:rPr>
                        <a:t>MBA admissions</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5</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4</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50,000</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15</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294980764"/>
                  </a:ext>
                </a:extLst>
              </a:tr>
              <a:tr h="331972">
                <a:tc>
                  <a:txBody>
                    <a:bodyPr/>
                    <a:lstStyle/>
                    <a:p>
                      <a:pPr>
                        <a:lnSpc>
                          <a:spcPct val="115000"/>
                        </a:lnSpc>
                        <a:spcAft>
                          <a:spcPts val="0"/>
                        </a:spcAft>
                      </a:pPr>
                      <a:r>
                        <a:rPr lang="en-US" sz="1800">
                          <a:effectLst/>
                        </a:rPr>
                        <a:t>Best MBA college</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8</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6</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20,000</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dirty="0">
                          <a:effectLst/>
                        </a:rPr>
                        <a:t>12</a:t>
                      </a:r>
                      <a:endParaRPr lang="en-US" sz="2000" dirty="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427641241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3 — SEO ROI</a:t>
            </a:r>
          </a:p>
        </p:txBody>
      </p:sp>
      <p:sp>
        <p:nvSpPr>
          <p:cNvPr id="4" name="TextBox 3"/>
          <p:cNvSpPr txBox="1"/>
          <p:nvPr/>
        </p:nvSpPr>
        <p:spPr>
          <a:xfrm>
            <a:off x="822960" y="1234440"/>
            <a:ext cx="10515600" cy="1015663"/>
          </a:xfrm>
          <a:prstGeom prst="rect">
            <a:avLst/>
          </a:prstGeom>
          <a:noFill/>
        </p:spPr>
        <p:txBody>
          <a:bodyPr wrap="square">
            <a:spAutoFit/>
          </a:bodyPr>
          <a:lstStyle/>
          <a:p>
            <a:pPr algn="l"/>
            <a:r>
              <a:rPr sz="2000" b="0" dirty="0">
                <a:solidFill>
                  <a:srgbClr val="4B4B4B"/>
                </a:solidFill>
                <a:latin typeface="Aptos"/>
              </a:rPr>
              <a:t>CASE
A company spends ₹80,000 per month on SEO and generates ₹6 lakh per month in SEO-attributed revenue.</a:t>
            </a:r>
          </a:p>
        </p:txBody>
      </p:sp>
      <p:sp>
        <p:nvSpPr>
          <p:cNvPr id="5" name="Rounded Rectangle 4"/>
          <p:cNvSpPr/>
          <p:nvPr/>
        </p:nvSpPr>
        <p:spPr>
          <a:xfrm>
            <a:off x="685800" y="3657600"/>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3977639"/>
            <a:ext cx="10287000" cy="1691640"/>
          </a:xfrm>
          <a:prstGeom prst="rect">
            <a:avLst/>
          </a:prstGeom>
          <a:noFill/>
        </p:spPr>
        <p:txBody>
          <a:bodyPr wrap="square">
            <a:spAutoFit/>
          </a:bodyPr>
          <a:lstStyle/>
          <a:p>
            <a:pPr algn="l"/>
            <a:r>
              <a:rPr sz="1900" b="1">
                <a:solidFill>
                  <a:srgbClr val="192D41"/>
                </a:solidFill>
                <a:latin typeface="Aptos"/>
              </a:rPr>
              <a:t>QUESTION
Calculate the simple revenue-based SEO ROI and decide whether the campaign appears attractive; then identify the additional information you would need before making a genuine profitability or budget-allocation decision.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4 — Diagnose the SEO Problem</a:t>
            </a:r>
          </a:p>
        </p:txBody>
      </p:sp>
      <p:sp>
        <p:nvSpPr>
          <p:cNvPr id="4" name="TextBox 3"/>
          <p:cNvSpPr txBox="1"/>
          <p:nvPr/>
        </p:nvSpPr>
        <p:spPr>
          <a:xfrm>
            <a:off x="822960" y="1234440"/>
            <a:ext cx="10515600" cy="2057400"/>
          </a:xfrm>
          <a:prstGeom prst="rect">
            <a:avLst/>
          </a:prstGeom>
          <a:noFill/>
        </p:spPr>
        <p:txBody>
          <a:bodyPr wrap="square">
            <a:spAutoFit/>
          </a:bodyPr>
          <a:lstStyle/>
          <a:p>
            <a:pPr algn="l"/>
            <a:r>
              <a:rPr sz="1700" b="0">
                <a:solidFill>
                  <a:srgbClr val="4B4B4B"/>
                </a:solidFill>
                <a:latin typeface="Aptos"/>
              </a:rPr>
              <a:t>CASE
An online fashion retailer has 500,000 monthly organic impressions. Its average Google position improves from 18 to 9, but organic CTR falls from 4.5% to 2.8%.</a:t>
            </a:r>
          </a:p>
        </p:txBody>
      </p:sp>
      <p:sp>
        <p:nvSpPr>
          <p:cNvPr id="5" name="Rounded Rectangle 4"/>
          <p:cNvSpPr/>
          <p:nvPr/>
        </p:nvSpPr>
        <p:spPr>
          <a:xfrm>
            <a:off x="685800" y="3657600"/>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3977639"/>
            <a:ext cx="10287000" cy="1691640"/>
          </a:xfrm>
          <a:prstGeom prst="rect">
            <a:avLst/>
          </a:prstGeom>
          <a:noFill/>
        </p:spPr>
        <p:txBody>
          <a:bodyPr wrap="square">
            <a:spAutoFit/>
          </a:bodyPr>
          <a:lstStyle/>
          <a:p>
            <a:pPr algn="l"/>
            <a:r>
              <a:rPr sz="1900" b="1">
                <a:solidFill>
                  <a:srgbClr val="192D41"/>
                </a:solidFill>
                <a:latin typeface="Aptos"/>
              </a:rPr>
              <a:t>QUESTION
How can CTR fall even though ranking improves, and what three actions would you recommend to improve organic search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5 — Google Ads KPI Calculation</a:t>
            </a:r>
          </a:p>
        </p:txBody>
      </p:sp>
      <p:sp>
        <p:nvSpPr>
          <p:cNvPr id="4" name="TextBox 3"/>
          <p:cNvSpPr txBox="1"/>
          <p:nvPr/>
        </p:nvSpPr>
        <p:spPr>
          <a:xfrm>
            <a:off x="822960" y="1234440"/>
            <a:ext cx="10515600" cy="2057400"/>
          </a:xfrm>
          <a:prstGeom prst="rect">
            <a:avLst/>
          </a:prstGeom>
          <a:noFill/>
        </p:spPr>
        <p:txBody>
          <a:bodyPr wrap="square">
            <a:spAutoFit/>
          </a:bodyPr>
          <a:lstStyle/>
          <a:p>
            <a:pPr algn="l"/>
            <a:r>
              <a:rPr sz="1700" b="0">
                <a:solidFill>
                  <a:srgbClr val="4B4B4B"/>
                </a:solidFill>
                <a:latin typeface="Aptos"/>
              </a:rPr>
              <a:t>CASE
A company spends ₹1,20,000 on Google Ads. Impressions = 500,000; clicks = 20,000; conversions = 800; revenue = ₹4,80,000.</a:t>
            </a:r>
          </a:p>
        </p:txBody>
      </p:sp>
      <p:sp>
        <p:nvSpPr>
          <p:cNvPr id="5" name="Rounded Rectangle 4"/>
          <p:cNvSpPr/>
          <p:nvPr/>
        </p:nvSpPr>
        <p:spPr>
          <a:xfrm>
            <a:off x="685800" y="3657600"/>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3977639"/>
            <a:ext cx="10287000" cy="1691640"/>
          </a:xfrm>
          <a:prstGeom prst="rect">
            <a:avLst/>
          </a:prstGeom>
          <a:noFill/>
        </p:spPr>
        <p:txBody>
          <a:bodyPr wrap="square">
            <a:spAutoFit/>
          </a:bodyPr>
          <a:lstStyle/>
          <a:p>
            <a:pPr algn="l"/>
            <a:r>
              <a:rPr sz="1900" b="1">
                <a:solidFill>
                  <a:srgbClr val="192D41"/>
                </a:solidFill>
                <a:latin typeface="Aptos"/>
              </a:rPr>
              <a:t>QUESTION
Calculate CTR, CPC, conversion rate, CPA and ROAS. Based on these metrics, would you continue the campaign? Explain your decision.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6 — Which Google Ads Campaign Is Better?</a:t>
            </a:r>
          </a:p>
        </p:txBody>
      </p:sp>
      <p:sp>
        <p:nvSpPr>
          <p:cNvPr id="4" name="TextBox 3"/>
          <p:cNvSpPr txBox="1"/>
          <p:nvPr/>
        </p:nvSpPr>
        <p:spPr>
          <a:xfrm>
            <a:off x="822960" y="1234440"/>
            <a:ext cx="10515600" cy="615553"/>
          </a:xfrm>
          <a:prstGeom prst="rect">
            <a:avLst/>
          </a:prstGeom>
          <a:noFill/>
        </p:spPr>
        <p:txBody>
          <a:bodyPr wrap="square">
            <a:spAutoFit/>
          </a:bodyPr>
          <a:lstStyle/>
          <a:p>
            <a:pPr algn="l"/>
            <a:r>
              <a:rPr sz="1700" b="0" dirty="0">
                <a:solidFill>
                  <a:srgbClr val="4B4B4B"/>
                </a:solidFill>
                <a:latin typeface="Aptos"/>
              </a:rPr>
              <a:t>CASE
</a:t>
            </a:r>
          </a:p>
        </p:txBody>
      </p:sp>
      <p:sp>
        <p:nvSpPr>
          <p:cNvPr id="5" name="Rounded Rectangle 4"/>
          <p:cNvSpPr/>
          <p:nvPr/>
        </p:nvSpPr>
        <p:spPr>
          <a:xfrm>
            <a:off x="731520" y="4081534"/>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7260" y="4401574"/>
            <a:ext cx="10287000" cy="1691640"/>
          </a:xfrm>
          <a:prstGeom prst="rect">
            <a:avLst/>
          </a:prstGeom>
          <a:noFill/>
        </p:spPr>
        <p:txBody>
          <a:bodyPr wrap="square">
            <a:spAutoFit/>
          </a:bodyPr>
          <a:lstStyle/>
          <a:p>
            <a:pPr algn="l"/>
            <a:r>
              <a:rPr sz="1900" b="1" dirty="0">
                <a:solidFill>
                  <a:srgbClr val="192D41"/>
                </a:solidFill>
                <a:latin typeface="Aptos"/>
              </a:rPr>
              <a:t>QUESTION
Which campaign would you increase the budget for? Calculate and compare CTR, CPC, conversion rate, CPA and ROAS before making your decision.</a:t>
            </a:r>
          </a:p>
        </p:txBody>
      </p:sp>
      <p:graphicFrame>
        <p:nvGraphicFramePr>
          <p:cNvPr id="7" name="Table 6"/>
          <p:cNvGraphicFramePr>
            <a:graphicFrameLocks noGrp="1"/>
          </p:cNvGraphicFramePr>
          <p:nvPr>
            <p:extLst>
              <p:ext uri="{D42A27DB-BD31-4B8C-83A1-F6EECF244321}">
                <p14:modId xmlns:p14="http://schemas.microsoft.com/office/powerpoint/2010/main" val="3966293682"/>
              </p:ext>
            </p:extLst>
          </p:nvPr>
        </p:nvGraphicFramePr>
        <p:xfrm>
          <a:off x="822960" y="1674053"/>
          <a:ext cx="10652760" cy="1967868"/>
        </p:xfrm>
        <a:graphic>
          <a:graphicData uri="http://schemas.openxmlformats.org/drawingml/2006/table">
            <a:tbl>
              <a:tblPr firstRow="1" firstCol="1" bandRow="1">
                <a:tableStyleId>{5C22544A-7EE6-4342-B048-85BDC9FD1C3A}</a:tableStyleId>
              </a:tblPr>
              <a:tblGrid>
                <a:gridCol w="3550920">
                  <a:extLst>
                    <a:ext uri="{9D8B030D-6E8A-4147-A177-3AD203B41FA5}">
                      <a16:colId xmlns:a16="http://schemas.microsoft.com/office/drawing/2014/main" val="3268710367"/>
                    </a:ext>
                  </a:extLst>
                </a:gridCol>
                <a:gridCol w="3550920">
                  <a:extLst>
                    <a:ext uri="{9D8B030D-6E8A-4147-A177-3AD203B41FA5}">
                      <a16:colId xmlns:a16="http://schemas.microsoft.com/office/drawing/2014/main" val="3724346496"/>
                    </a:ext>
                  </a:extLst>
                </a:gridCol>
                <a:gridCol w="3550920">
                  <a:extLst>
                    <a:ext uri="{9D8B030D-6E8A-4147-A177-3AD203B41FA5}">
                      <a16:colId xmlns:a16="http://schemas.microsoft.com/office/drawing/2014/main" val="1210325829"/>
                    </a:ext>
                  </a:extLst>
                </a:gridCol>
              </a:tblGrid>
              <a:tr h="277251">
                <a:tc>
                  <a:txBody>
                    <a:bodyPr/>
                    <a:lstStyle/>
                    <a:p>
                      <a:pPr>
                        <a:lnSpc>
                          <a:spcPct val="115000"/>
                        </a:lnSpc>
                        <a:spcAft>
                          <a:spcPts val="0"/>
                        </a:spcAft>
                      </a:pPr>
                      <a:r>
                        <a:rPr lang="en-US" sz="2000">
                          <a:effectLst/>
                        </a:rPr>
                        <a:t>KPI</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Campaign A</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Campaign B</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322245071"/>
                  </a:ext>
                </a:extLst>
              </a:tr>
              <a:tr h="277251">
                <a:tc>
                  <a:txBody>
                    <a:bodyPr/>
                    <a:lstStyle/>
                    <a:p>
                      <a:pPr>
                        <a:lnSpc>
                          <a:spcPct val="115000"/>
                        </a:lnSpc>
                        <a:spcAft>
                          <a:spcPts val="0"/>
                        </a:spcAft>
                      </a:pPr>
                      <a:r>
                        <a:rPr lang="en-US" sz="2000">
                          <a:effectLst/>
                        </a:rPr>
                        <a:t>Spend</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dirty="0">
                          <a:effectLst/>
                        </a:rPr>
                        <a:t>₹50,000</a:t>
                      </a:r>
                      <a:endParaRPr lang="en-US" sz="2400" dirty="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₹75,000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984275960"/>
                  </a:ext>
                </a:extLst>
              </a:tr>
              <a:tr h="277251">
                <a:tc>
                  <a:txBody>
                    <a:bodyPr/>
                    <a:lstStyle/>
                    <a:p>
                      <a:pPr>
                        <a:lnSpc>
                          <a:spcPct val="115000"/>
                        </a:lnSpc>
                        <a:spcAft>
                          <a:spcPts val="0"/>
                        </a:spcAft>
                      </a:pPr>
                      <a:r>
                        <a:rPr lang="en-US" sz="2000">
                          <a:effectLst/>
                        </a:rPr>
                        <a:t>Impressions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500,000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300,000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614847658"/>
                  </a:ext>
                </a:extLst>
              </a:tr>
              <a:tr h="277251">
                <a:tc>
                  <a:txBody>
                    <a:bodyPr/>
                    <a:lstStyle/>
                    <a:p>
                      <a:pPr>
                        <a:lnSpc>
                          <a:spcPct val="115000"/>
                        </a:lnSpc>
                        <a:spcAft>
                          <a:spcPts val="0"/>
                        </a:spcAft>
                      </a:pPr>
                      <a:r>
                        <a:rPr lang="en-US" sz="2000">
                          <a:effectLst/>
                        </a:rPr>
                        <a:t>Clicks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20,000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12,000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4128000996"/>
                  </a:ext>
                </a:extLst>
              </a:tr>
              <a:tr h="277251">
                <a:tc>
                  <a:txBody>
                    <a:bodyPr/>
                    <a:lstStyle/>
                    <a:p>
                      <a:pPr>
                        <a:lnSpc>
                          <a:spcPct val="115000"/>
                        </a:lnSpc>
                        <a:spcAft>
                          <a:spcPts val="0"/>
                        </a:spcAft>
                      </a:pPr>
                      <a:r>
                        <a:rPr lang="en-US" sz="2000">
                          <a:effectLst/>
                        </a:rPr>
                        <a:t>Conversions</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400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600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2515457041"/>
                  </a:ext>
                </a:extLst>
              </a:tr>
              <a:tr h="277251">
                <a:tc>
                  <a:txBody>
                    <a:bodyPr/>
                    <a:lstStyle/>
                    <a:p>
                      <a:pPr>
                        <a:lnSpc>
                          <a:spcPct val="115000"/>
                        </a:lnSpc>
                        <a:spcAft>
                          <a:spcPts val="0"/>
                        </a:spcAft>
                      </a:pPr>
                      <a:r>
                        <a:rPr lang="en-US" sz="2000">
                          <a:effectLst/>
                        </a:rPr>
                        <a:t>Revenue</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₹2,00,000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dirty="0">
                          <a:effectLst/>
                        </a:rPr>
                        <a:t>₹3,60,000</a:t>
                      </a:r>
                      <a:endParaRPr lang="en-US" sz="2400" dirty="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214281671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7 — The CTR Trap</a:t>
            </a:r>
          </a:p>
        </p:txBody>
      </p:sp>
      <p:sp>
        <p:nvSpPr>
          <p:cNvPr id="4" name="TextBox 3"/>
          <p:cNvSpPr txBox="1"/>
          <p:nvPr/>
        </p:nvSpPr>
        <p:spPr>
          <a:xfrm>
            <a:off x="822960" y="1234440"/>
            <a:ext cx="10515600" cy="2057400"/>
          </a:xfrm>
          <a:prstGeom prst="rect">
            <a:avLst/>
          </a:prstGeom>
          <a:noFill/>
        </p:spPr>
        <p:txBody>
          <a:bodyPr wrap="square">
            <a:spAutoFit/>
          </a:bodyPr>
          <a:lstStyle/>
          <a:p>
            <a:pPr algn="l"/>
            <a:r>
              <a:rPr sz="1700" b="0">
                <a:solidFill>
                  <a:srgbClr val="4B4B4B"/>
                </a:solidFill>
                <a:latin typeface="Aptos"/>
              </a:rPr>
              <a:t>CASE
Campaign X: CTR 8%, CPC ₹15, conversion rate 1%, average order value ₹1,000. Campaign Y: CTR 3%, CPC ₹25, conversion rate 8%, average order value ₹5,000.</a:t>
            </a:r>
          </a:p>
        </p:txBody>
      </p:sp>
      <p:sp>
        <p:nvSpPr>
          <p:cNvPr id="5" name="Rounded Rectangle 4"/>
          <p:cNvSpPr/>
          <p:nvPr/>
        </p:nvSpPr>
        <p:spPr>
          <a:xfrm>
            <a:off x="685800" y="3657600"/>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3977639"/>
            <a:ext cx="10287000" cy="1691640"/>
          </a:xfrm>
          <a:prstGeom prst="rect">
            <a:avLst/>
          </a:prstGeom>
          <a:noFill/>
        </p:spPr>
        <p:txBody>
          <a:bodyPr wrap="square">
            <a:spAutoFit/>
          </a:bodyPr>
          <a:lstStyle/>
          <a:p>
            <a:pPr algn="l"/>
            <a:r>
              <a:rPr sz="1900" b="1">
                <a:solidFill>
                  <a:srgbClr val="192D41"/>
                </a:solidFill>
                <a:latin typeface="Aptos"/>
              </a:rPr>
              <a:t>QUESTION
Which campaign should receive more budget, and why? Use the relationship between CTR, conversion rate, CPC and customer value rather than CTR alone.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8 — Google Ads Budget Allocation</a:t>
            </a:r>
          </a:p>
        </p:txBody>
      </p:sp>
      <p:sp>
        <p:nvSpPr>
          <p:cNvPr id="4" name="TextBox 3"/>
          <p:cNvSpPr txBox="1"/>
          <p:nvPr/>
        </p:nvSpPr>
        <p:spPr>
          <a:xfrm>
            <a:off x="822960" y="1234440"/>
            <a:ext cx="10515600" cy="615553"/>
          </a:xfrm>
          <a:prstGeom prst="rect">
            <a:avLst/>
          </a:prstGeom>
          <a:noFill/>
        </p:spPr>
        <p:txBody>
          <a:bodyPr wrap="square">
            <a:spAutoFit/>
          </a:bodyPr>
          <a:lstStyle/>
          <a:p>
            <a:pPr algn="l"/>
            <a:r>
              <a:rPr sz="1700" b="0" dirty="0">
                <a:solidFill>
                  <a:srgbClr val="4B4B4B"/>
                </a:solidFill>
                <a:latin typeface="Aptos"/>
              </a:rPr>
              <a:t>CASE
</a:t>
            </a:r>
          </a:p>
        </p:txBody>
      </p:sp>
      <p:sp>
        <p:nvSpPr>
          <p:cNvPr id="5" name="Rounded Rectangle 4"/>
          <p:cNvSpPr/>
          <p:nvPr/>
        </p:nvSpPr>
        <p:spPr>
          <a:xfrm>
            <a:off x="685800" y="3657600"/>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3977639"/>
            <a:ext cx="10287000" cy="1691640"/>
          </a:xfrm>
          <a:prstGeom prst="rect">
            <a:avLst/>
          </a:prstGeom>
          <a:noFill/>
        </p:spPr>
        <p:txBody>
          <a:bodyPr wrap="square">
            <a:spAutoFit/>
          </a:bodyPr>
          <a:lstStyle/>
          <a:p>
            <a:pPr algn="l"/>
            <a:r>
              <a:rPr sz="1900" b="1">
                <a:solidFill>
                  <a:srgbClr val="192D41"/>
                </a:solidFill>
                <a:latin typeface="Aptos"/>
              </a:rPr>
              <a:t>QUESTION
If the entire ₹1 lakh is allocated to each campaign separately, how many clicks, conversions and revenue would each generate, and which campaign should receive the budget?</a:t>
            </a:r>
          </a:p>
        </p:txBody>
      </p:sp>
      <p:graphicFrame>
        <p:nvGraphicFramePr>
          <p:cNvPr id="7" name="Table 6"/>
          <p:cNvGraphicFramePr>
            <a:graphicFrameLocks noGrp="1"/>
          </p:cNvGraphicFramePr>
          <p:nvPr>
            <p:extLst>
              <p:ext uri="{D42A27DB-BD31-4B8C-83A1-F6EECF244321}">
                <p14:modId xmlns:p14="http://schemas.microsoft.com/office/powerpoint/2010/main" val="2299293805"/>
              </p:ext>
            </p:extLst>
          </p:nvPr>
        </p:nvGraphicFramePr>
        <p:xfrm>
          <a:off x="822960" y="1849993"/>
          <a:ext cx="10652760" cy="1397052"/>
        </p:xfrm>
        <a:graphic>
          <a:graphicData uri="http://schemas.openxmlformats.org/drawingml/2006/table">
            <a:tbl>
              <a:tblPr firstRow="1" firstCol="1" bandRow="1">
                <a:tableStyleId>{5C22544A-7EE6-4342-B048-85BDC9FD1C3A}</a:tableStyleId>
              </a:tblPr>
              <a:tblGrid>
                <a:gridCol w="3550920">
                  <a:extLst>
                    <a:ext uri="{9D8B030D-6E8A-4147-A177-3AD203B41FA5}">
                      <a16:colId xmlns:a16="http://schemas.microsoft.com/office/drawing/2014/main" val="393621236"/>
                    </a:ext>
                  </a:extLst>
                </a:gridCol>
                <a:gridCol w="3550920">
                  <a:extLst>
                    <a:ext uri="{9D8B030D-6E8A-4147-A177-3AD203B41FA5}">
                      <a16:colId xmlns:a16="http://schemas.microsoft.com/office/drawing/2014/main" val="2338423672"/>
                    </a:ext>
                  </a:extLst>
                </a:gridCol>
                <a:gridCol w="3550920">
                  <a:extLst>
                    <a:ext uri="{9D8B030D-6E8A-4147-A177-3AD203B41FA5}">
                      <a16:colId xmlns:a16="http://schemas.microsoft.com/office/drawing/2014/main" val="2694344439"/>
                    </a:ext>
                  </a:extLst>
                </a:gridCol>
              </a:tblGrid>
              <a:tr h="354170">
                <a:tc>
                  <a:txBody>
                    <a:bodyPr/>
                    <a:lstStyle/>
                    <a:p>
                      <a:pPr>
                        <a:lnSpc>
                          <a:spcPct val="115000"/>
                        </a:lnSpc>
                        <a:spcAft>
                          <a:spcPts val="0"/>
                        </a:spcAft>
                      </a:pPr>
                      <a:r>
                        <a:rPr lang="en-US" sz="2400">
                          <a:effectLst/>
                        </a:rPr>
                        <a:t> </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Campaign A</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Campaign B</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684550375"/>
                  </a:ext>
                </a:extLst>
              </a:tr>
              <a:tr h="334493">
                <a:tc>
                  <a:txBody>
                    <a:bodyPr/>
                    <a:lstStyle/>
                    <a:p>
                      <a:pPr>
                        <a:lnSpc>
                          <a:spcPct val="115000"/>
                        </a:lnSpc>
                        <a:spcAft>
                          <a:spcPts val="0"/>
                        </a:spcAft>
                      </a:pPr>
                      <a:r>
                        <a:rPr lang="en-US" sz="2000">
                          <a:effectLst/>
                        </a:rPr>
                        <a:t>CPC</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₹10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₹25</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2372728986"/>
                  </a:ext>
                </a:extLst>
              </a:tr>
              <a:tr h="334493">
                <a:tc>
                  <a:txBody>
                    <a:bodyPr/>
                    <a:lstStyle/>
                    <a:p>
                      <a:pPr>
                        <a:lnSpc>
                          <a:spcPct val="115000"/>
                        </a:lnSpc>
                        <a:spcAft>
                          <a:spcPts val="0"/>
                        </a:spcAft>
                      </a:pPr>
                      <a:r>
                        <a:rPr lang="en-US" sz="2000">
                          <a:effectLst/>
                        </a:rPr>
                        <a:t>Conversion rate</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dirty="0">
                          <a:effectLst/>
                        </a:rPr>
                        <a:t>2%</a:t>
                      </a:r>
                      <a:endParaRPr lang="en-US" sz="2400" dirty="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8%</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2763499180"/>
                  </a:ext>
                </a:extLst>
              </a:tr>
              <a:tr h="334493">
                <a:tc>
                  <a:txBody>
                    <a:bodyPr/>
                    <a:lstStyle/>
                    <a:p>
                      <a:pPr>
                        <a:lnSpc>
                          <a:spcPct val="115000"/>
                        </a:lnSpc>
                        <a:spcAft>
                          <a:spcPts val="0"/>
                        </a:spcAft>
                      </a:pPr>
                      <a:r>
                        <a:rPr lang="en-US" sz="2000">
                          <a:effectLst/>
                        </a:rPr>
                        <a:t>Average order value</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a:effectLst/>
                        </a:rPr>
                        <a:t>₹1,500</a:t>
                      </a:r>
                      <a:endParaRPr lang="en-US" sz="24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2000" dirty="0">
                          <a:effectLst/>
                        </a:rPr>
                        <a:t>₹2,500</a:t>
                      </a:r>
                      <a:endParaRPr lang="en-US" sz="2400" dirty="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352817893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9 — The Campaign Looks Successful. Is It?</a:t>
            </a:r>
          </a:p>
        </p:txBody>
      </p:sp>
      <p:sp>
        <p:nvSpPr>
          <p:cNvPr id="4" name="TextBox 3"/>
          <p:cNvSpPr txBox="1"/>
          <p:nvPr/>
        </p:nvSpPr>
        <p:spPr>
          <a:xfrm>
            <a:off x="822960" y="1234440"/>
            <a:ext cx="10515600" cy="877163"/>
          </a:xfrm>
          <a:prstGeom prst="rect">
            <a:avLst/>
          </a:prstGeom>
          <a:noFill/>
        </p:spPr>
        <p:txBody>
          <a:bodyPr wrap="square">
            <a:spAutoFit/>
          </a:bodyPr>
          <a:lstStyle/>
          <a:p>
            <a:pPr algn="l"/>
            <a:r>
              <a:rPr sz="1700" b="0" dirty="0">
                <a:solidFill>
                  <a:srgbClr val="4B4B4B"/>
                </a:solidFill>
                <a:latin typeface="Aptos"/>
              </a:rPr>
              <a:t>CASE
Management says: “Google Ads generated 10,000 clicks, 40% more than last month, and CTR increased from 3% to 4%. The campaign is a success.”</a:t>
            </a:r>
          </a:p>
        </p:txBody>
      </p:sp>
      <p:sp>
        <p:nvSpPr>
          <p:cNvPr id="5" name="Rounded Rectangle 4"/>
          <p:cNvSpPr/>
          <p:nvPr/>
        </p:nvSpPr>
        <p:spPr>
          <a:xfrm>
            <a:off x="678027" y="3981157"/>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4499610"/>
            <a:ext cx="10287000" cy="1691640"/>
          </a:xfrm>
          <a:prstGeom prst="rect">
            <a:avLst/>
          </a:prstGeom>
          <a:noFill/>
        </p:spPr>
        <p:txBody>
          <a:bodyPr wrap="square">
            <a:spAutoFit/>
          </a:bodyPr>
          <a:lstStyle/>
          <a:p>
            <a:pPr algn="l"/>
            <a:r>
              <a:rPr sz="1900" b="1">
                <a:solidFill>
                  <a:srgbClr val="192D41"/>
                </a:solidFill>
                <a:latin typeface="Aptos"/>
              </a:rPr>
              <a:t>QUESTION
Do you agree with management? Compare the change in acquisition efficiency and economic performance, and identify the KPIs that support your conclusion.</a:t>
            </a:r>
          </a:p>
        </p:txBody>
      </p:sp>
      <p:graphicFrame>
        <p:nvGraphicFramePr>
          <p:cNvPr id="7" name="Table 6"/>
          <p:cNvGraphicFramePr>
            <a:graphicFrameLocks noGrp="1"/>
          </p:cNvGraphicFramePr>
          <p:nvPr>
            <p:extLst>
              <p:ext uri="{D42A27DB-BD31-4B8C-83A1-F6EECF244321}">
                <p14:modId xmlns:p14="http://schemas.microsoft.com/office/powerpoint/2010/main" val="1834427593"/>
              </p:ext>
            </p:extLst>
          </p:nvPr>
        </p:nvGraphicFramePr>
        <p:xfrm>
          <a:off x="960120" y="2340205"/>
          <a:ext cx="10378440" cy="1475740"/>
        </p:xfrm>
        <a:graphic>
          <a:graphicData uri="http://schemas.openxmlformats.org/drawingml/2006/table">
            <a:tbl>
              <a:tblPr firstRow="1" firstCol="1" bandRow="1">
                <a:tableStyleId>{5C22544A-7EE6-4342-B048-85BDC9FD1C3A}</a:tableStyleId>
              </a:tblPr>
              <a:tblGrid>
                <a:gridCol w="3459480">
                  <a:extLst>
                    <a:ext uri="{9D8B030D-6E8A-4147-A177-3AD203B41FA5}">
                      <a16:colId xmlns:a16="http://schemas.microsoft.com/office/drawing/2014/main" val="3289553659"/>
                    </a:ext>
                  </a:extLst>
                </a:gridCol>
                <a:gridCol w="3459480">
                  <a:extLst>
                    <a:ext uri="{9D8B030D-6E8A-4147-A177-3AD203B41FA5}">
                      <a16:colId xmlns:a16="http://schemas.microsoft.com/office/drawing/2014/main" val="804428315"/>
                    </a:ext>
                  </a:extLst>
                </a:gridCol>
                <a:gridCol w="3459480">
                  <a:extLst>
                    <a:ext uri="{9D8B030D-6E8A-4147-A177-3AD203B41FA5}">
                      <a16:colId xmlns:a16="http://schemas.microsoft.com/office/drawing/2014/main" val="3325364265"/>
                    </a:ext>
                  </a:extLst>
                </a:gridCol>
              </a:tblGrid>
              <a:tr h="277547">
                <a:tc>
                  <a:txBody>
                    <a:bodyPr/>
                    <a:lstStyle/>
                    <a:p>
                      <a:pPr>
                        <a:lnSpc>
                          <a:spcPct val="115000"/>
                        </a:lnSpc>
                        <a:spcAft>
                          <a:spcPts val="0"/>
                        </a:spcAft>
                      </a:pPr>
                      <a:r>
                        <a:rPr lang="en-US" sz="1800">
                          <a:effectLst/>
                        </a:rPr>
                        <a:t>KPI</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Previous Month</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Current Month</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1813615601"/>
                  </a:ext>
                </a:extLst>
              </a:tr>
              <a:tr h="277547">
                <a:tc>
                  <a:txBody>
                    <a:bodyPr/>
                    <a:lstStyle/>
                    <a:p>
                      <a:pPr>
                        <a:lnSpc>
                          <a:spcPct val="115000"/>
                        </a:lnSpc>
                        <a:spcAft>
                          <a:spcPts val="0"/>
                        </a:spcAft>
                      </a:pPr>
                      <a:r>
                        <a:rPr lang="en-US" sz="1800">
                          <a:effectLst/>
                        </a:rPr>
                        <a:t>Spend</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₹1,00,000</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₹1,50,000</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3899198941"/>
                  </a:ext>
                </a:extLst>
              </a:tr>
              <a:tr h="277547">
                <a:tc>
                  <a:txBody>
                    <a:bodyPr/>
                    <a:lstStyle/>
                    <a:p>
                      <a:pPr>
                        <a:lnSpc>
                          <a:spcPct val="115000"/>
                        </a:lnSpc>
                        <a:spcAft>
                          <a:spcPts val="0"/>
                        </a:spcAft>
                      </a:pPr>
                      <a:r>
                        <a:rPr lang="en-US" sz="1800">
                          <a:effectLst/>
                        </a:rPr>
                        <a:t>Clicks</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7,143</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10,000</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4175819938"/>
                  </a:ext>
                </a:extLst>
              </a:tr>
              <a:tr h="277547">
                <a:tc>
                  <a:txBody>
                    <a:bodyPr/>
                    <a:lstStyle/>
                    <a:p>
                      <a:pPr>
                        <a:lnSpc>
                          <a:spcPct val="115000"/>
                        </a:lnSpc>
                        <a:spcAft>
                          <a:spcPts val="0"/>
                        </a:spcAft>
                      </a:pPr>
                      <a:r>
                        <a:rPr lang="en-US" sz="1800">
                          <a:effectLst/>
                        </a:rPr>
                        <a:t>Conversions</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500</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a:effectLst/>
                        </a:rPr>
                        <a:t>450</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3417081648"/>
                  </a:ext>
                </a:extLst>
              </a:tr>
              <a:tr h="277547">
                <a:tc>
                  <a:txBody>
                    <a:bodyPr/>
                    <a:lstStyle/>
                    <a:p>
                      <a:pPr>
                        <a:lnSpc>
                          <a:spcPct val="115000"/>
                        </a:lnSpc>
                        <a:spcAft>
                          <a:spcPts val="0"/>
                        </a:spcAft>
                      </a:pPr>
                      <a:r>
                        <a:rPr lang="en-US" sz="1800">
                          <a:effectLst/>
                        </a:rPr>
                        <a:t>Revenue</a:t>
                      </a:r>
                      <a:endParaRPr lang="en-US" sz="200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dirty="0">
                          <a:effectLst/>
                        </a:rPr>
                        <a:t>₹5 lakh</a:t>
                      </a:r>
                      <a:endParaRPr lang="en-US" sz="2000" dirty="0">
                        <a:effectLst/>
                        <a:latin typeface="Arial" panose="020B0604020202020204" pitchFamily="34" charset="0"/>
                        <a:ea typeface="MS Mincho"/>
                        <a:cs typeface="Times New Roman" panose="02020603050405020304" pitchFamily="18" charset="0"/>
                      </a:endParaRPr>
                    </a:p>
                  </a:txBody>
                  <a:tcPr marL="68580" marR="68580" marT="0" marB="0" anchor="ctr"/>
                </a:tc>
                <a:tc>
                  <a:txBody>
                    <a:bodyPr/>
                    <a:lstStyle/>
                    <a:p>
                      <a:pPr>
                        <a:lnSpc>
                          <a:spcPct val="115000"/>
                        </a:lnSpc>
                        <a:spcAft>
                          <a:spcPts val="0"/>
                        </a:spcAft>
                      </a:pPr>
                      <a:r>
                        <a:rPr lang="en-US" sz="1800" dirty="0">
                          <a:effectLst/>
                        </a:rPr>
                        <a:t>₹4.5 lakh</a:t>
                      </a:r>
                      <a:endParaRPr lang="en-US" sz="2000" dirty="0">
                        <a:effectLst/>
                        <a:latin typeface="Arial" panose="020B0604020202020204" pitchFamily="34" charset="0"/>
                        <a:ea typeface="MS Mincho"/>
                        <a:cs typeface="Times New Roman" panose="02020603050405020304" pitchFamily="18" charset="0"/>
                      </a:endParaRPr>
                    </a:p>
                  </a:txBody>
                  <a:tcPr marL="68580" marR="68580" marT="0" marB="0" anchor="ctr"/>
                </a:tc>
                <a:extLst>
                  <a:ext uri="{0D108BD9-81ED-4DB2-BD59-A6C34878D82A}">
                    <a16:rowId xmlns:a16="http://schemas.microsoft.com/office/drawing/2014/main" val="369976510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10 — SEO vs Google Ads</a:t>
            </a:r>
          </a:p>
        </p:txBody>
      </p:sp>
      <p:sp>
        <p:nvSpPr>
          <p:cNvPr id="4" name="TextBox 3"/>
          <p:cNvSpPr txBox="1"/>
          <p:nvPr/>
        </p:nvSpPr>
        <p:spPr>
          <a:xfrm>
            <a:off x="822960" y="1234440"/>
            <a:ext cx="10515600" cy="2057400"/>
          </a:xfrm>
          <a:prstGeom prst="rect">
            <a:avLst/>
          </a:prstGeom>
          <a:noFill/>
        </p:spPr>
        <p:txBody>
          <a:bodyPr wrap="square">
            <a:spAutoFit/>
          </a:bodyPr>
          <a:lstStyle/>
          <a:p>
            <a:pPr algn="l"/>
            <a:r>
              <a:rPr sz="1700" b="0">
                <a:solidFill>
                  <a:srgbClr val="4B4B4B"/>
                </a:solidFill>
                <a:latin typeface="Aptos"/>
              </a:rPr>
              <a:t>CASE
SEO: 100,000 organic sessions, 2,000 conversions, ₹5,000 average course price, ₹3 lakh monthly cost. Google Ads: 20,000 paid sessions, 1,000 conversions, ₹5,000 average course price, ₹35 lakh monthly cost.</a:t>
            </a:r>
          </a:p>
        </p:txBody>
      </p:sp>
      <p:sp>
        <p:nvSpPr>
          <p:cNvPr id="5" name="Rounded Rectangle 4"/>
          <p:cNvSpPr/>
          <p:nvPr/>
        </p:nvSpPr>
        <p:spPr>
          <a:xfrm>
            <a:off x="685800" y="3657600"/>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3977639"/>
            <a:ext cx="10287000" cy="1691640"/>
          </a:xfrm>
          <a:prstGeom prst="rect">
            <a:avLst/>
          </a:prstGeom>
          <a:noFill/>
        </p:spPr>
        <p:txBody>
          <a:bodyPr wrap="square">
            <a:spAutoFit/>
          </a:bodyPr>
          <a:lstStyle/>
          <a:p>
            <a:pPr algn="l"/>
            <a:r>
              <a:rPr sz="1900" b="1">
                <a:solidFill>
                  <a:srgbClr val="192D41"/>
                </a:solidFill>
                <a:latin typeface="Aptos"/>
              </a:rPr>
              <a:t>QUESTION
Which channel appears more efficient? Calculate conversion rate, revenue, CPA and Google Ads ROAS, then explain whether the company should automatically shift budget from Google Ads to SEO.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D4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11480"/>
            <a:ext cx="10789920" cy="594360"/>
          </a:xfrm>
          <a:prstGeom prst="rect">
            <a:avLst/>
          </a:prstGeom>
          <a:noFill/>
        </p:spPr>
        <p:txBody>
          <a:bodyPr wrap="square">
            <a:spAutoFit/>
          </a:bodyPr>
          <a:lstStyle/>
          <a:p>
            <a:pPr algn="l"/>
            <a:r>
              <a:rPr sz="2400" b="1">
                <a:solidFill>
                  <a:srgbClr val="1E2D3C"/>
                </a:solidFill>
                <a:latin typeface="Aptos"/>
              </a:rPr>
              <a:t>Question 11 — The ₹10-Lakh Marketing Decision</a:t>
            </a:r>
          </a:p>
        </p:txBody>
      </p:sp>
      <p:sp>
        <p:nvSpPr>
          <p:cNvPr id="4" name="TextBox 3"/>
          <p:cNvSpPr txBox="1"/>
          <p:nvPr/>
        </p:nvSpPr>
        <p:spPr>
          <a:xfrm>
            <a:off x="822960" y="1234440"/>
            <a:ext cx="10515600" cy="2057400"/>
          </a:xfrm>
          <a:prstGeom prst="rect">
            <a:avLst/>
          </a:prstGeom>
          <a:noFill/>
        </p:spPr>
        <p:txBody>
          <a:bodyPr wrap="square">
            <a:spAutoFit/>
          </a:bodyPr>
          <a:lstStyle/>
          <a:p>
            <a:pPr algn="l"/>
            <a:r>
              <a:rPr sz="1700" b="0">
                <a:solidFill>
                  <a:srgbClr val="4B4B4B"/>
                </a:solidFill>
                <a:latin typeface="Aptos"/>
              </a:rPr>
              <a:t>CASE
You have ₹10 lakh to spend next month. The SEO team says organic traffic is growing. The Google Ads team says paid conversions are growing. Both teams want more budget, but you can give only one team an additional ₹5 lakh.</a:t>
            </a:r>
          </a:p>
        </p:txBody>
      </p:sp>
      <p:sp>
        <p:nvSpPr>
          <p:cNvPr id="5" name="Rounded Rectangle 4"/>
          <p:cNvSpPr/>
          <p:nvPr/>
        </p:nvSpPr>
        <p:spPr>
          <a:xfrm>
            <a:off x="685800" y="3657600"/>
            <a:ext cx="10835640" cy="2331720"/>
          </a:xfrm>
          <a:prstGeom prst="roundRect">
            <a:avLst/>
          </a:prstGeom>
          <a:solidFill>
            <a:srgbClr val="EBF2F8"/>
          </a:solidFill>
          <a:ln>
            <a:solidFill>
              <a:srgbClr val="B4C3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3977639"/>
            <a:ext cx="10287000" cy="1691640"/>
          </a:xfrm>
          <a:prstGeom prst="rect">
            <a:avLst/>
          </a:prstGeom>
          <a:noFill/>
        </p:spPr>
        <p:txBody>
          <a:bodyPr wrap="square">
            <a:spAutoFit/>
          </a:bodyPr>
          <a:lstStyle/>
          <a:p>
            <a:pPr algn="l"/>
            <a:r>
              <a:rPr sz="1900" b="1">
                <a:solidFill>
                  <a:srgbClr val="192D41"/>
                </a:solidFill>
                <a:latin typeface="Aptos"/>
              </a:rPr>
              <a:t>QUESTION
What KPIs and evidence would you request from both teams before deciding where to allocate the additional ₹5 lakh?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TotalTime>
  <Words>946</Words>
  <Application>Microsoft Office PowerPoint</Application>
  <PresentationFormat>Widescreen</PresentationFormat>
  <Paragraphs>138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Abhisek Dutta</cp:lastModifiedBy>
  <cp:revision>5</cp:revision>
  <dcterms:created xsi:type="dcterms:W3CDTF">2013-01-27T09:14:16Z</dcterms:created>
  <dcterms:modified xsi:type="dcterms:W3CDTF">2026-08-19T05:21:29Z</dcterms:modified>
  <cp:category/>
</cp:coreProperties>
</file>